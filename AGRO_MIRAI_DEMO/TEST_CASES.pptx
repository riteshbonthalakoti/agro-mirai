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828800"/>
            <a:ext cx="10698480" cy="914400"/>
          </a:xfrm>
          <a:prstGeom prst="rect">
            <a:avLst/>
          </a:prstGeom>
          <a:noFill/>
        </p:spPr>
        <p:txBody>
          <a:bodyPr wrap="square">
            <a:spAutoFit/>
          </a:bodyPr>
          <a:lstStyle/>
          <a:p>
            <a:pPr algn="ctr"/>
            <a:r>
              <a:rPr sz="4400" b="1">
                <a:solidFill>
                  <a:srgbClr val="3F6B3A"/>
                </a:solidFill>
                <a:latin typeface="Times New Roman"/>
              </a:rPr>
              <a:t>AGRO MIRAI</a:t>
            </a:r>
          </a:p>
        </p:txBody>
      </p:sp>
      <p:sp>
        <p:nvSpPr>
          <p:cNvPr id="3" name="TextBox 2"/>
          <p:cNvSpPr txBox="1"/>
          <p:nvPr/>
        </p:nvSpPr>
        <p:spPr>
          <a:xfrm>
            <a:off x="731520" y="2834640"/>
            <a:ext cx="10698480" cy="822960"/>
          </a:xfrm>
          <a:prstGeom prst="rect">
            <a:avLst/>
          </a:prstGeom>
          <a:noFill/>
        </p:spPr>
        <p:txBody>
          <a:bodyPr wrap="square">
            <a:spAutoFit/>
          </a:bodyPr>
          <a:lstStyle/>
          <a:p>
            <a:pPr algn="ctr"/>
            <a:r>
              <a:rPr sz="2800" b="1">
                <a:solidFill>
                  <a:srgbClr val="222222"/>
                </a:solidFill>
                <a:latin typeface="Times New Roman"/>
              </a:rPr>
              <a:t>13. Testing: Test Cases for the Backend and the Models</a:t>
            </a:r>
          </a:p>
        </p:txBody>
      </p:sp>
      <p:sp>
        <p:nvSpPr>
          <p:cNvPr id="4" name="TextBox 3"/>
          <p:cNvSpPr txBox="1"/>
          <p:nvPr/>
        </p:nvSpPr>
        <p:spPr>
          <a:xfrm>
            <a:off x="731520" y="3840480"/>
            <a:ext cx="10698480" cy="822960"/>
          </a:xfrm>
          <a:prstGeom prst="rect">
            <a:avLst/>
          </a:prstGeom>
          <a:noFill/>
        </p:spPr>
        <p:txBody>
          <a:bodyPr wrap="square">
            <a:spAutoFit/>
          </a:bodyPr>
          <a:lstStyle/>
          <a:p>
            <a:pPr algn="ctr"/>
            <a:r>
              <a:rPr sz="1600" b="0">
                <a:solidFill>
                  <a:srgbClr val="555555"/>
                </a:solidFill>
                <a:latin typeface="Times New Roman"/>
              </a:rPr>
              <a:t>AI-driven smart agriculture advisory  |  BITM, Dept of AIML  |  Every test case below was run live on the demo backend</a:t>
            </a:r>
          </a:p>
        </p:txBody>
      </p:sp>
      <p:sp>
        <p:nvSpPr>
          <p:cNvPr id="5" name="TextBox 4"/>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6" name="TextBox 5"/>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 Testing: Summary of Results</a:t>
            </a:r>
          </a:p>
        </p:txBody>
      </p:sp>
      <p:graphicFrame>
        <p:nvGraphicFramePr>
          <p:cNvPr id="3" name="Table 2"/>
          <p:cNvGraphicFramePr>
            <a:graphicFrameLocks noGrp="1"/>
          </p:cNvGraphicFramePr>
          <p:nvPr/>
        </p:nvGraphicFramePr>
        <p:xfrm>
          <a:off x="365760" y="1188720"/>
          <a:ext cx="11430000" cy="2377440"/>
        </p:xfrm>
        <a:graphic>
          <a:graphicData uri="http://schemas.openxmlformats.org/drawingml/2006/table">
            <a:tbl>
              <a:tblPr firstRow="1" bandRow="1">
                <a:tableStyleId>{5C22544A-7EE6-4342-B048-85BDC9FD1C3A}</a:tableStyleId>
              </a:tblPr>
              <a:tblGrid>
                <a:gridCol w="2743200"/>
                <a:gridCol w="2194560"/>
                <a:gridCol w="2194560"/>
                <a:gridCol w="2194560"/>
                <a:gridCol w="2103120"/>
              </a:tblGrid>
              <a:tr h="594360">
                <a:tc>
                  <a:txBody>
                    <a:bodyPr wrap="square"/>
                    <a:lstStyle/>
                    <a:p>
                      <a:r>
                        <a:rPr sz="1400" b="1">
                          <a:solidFill>
                            <a:srgbClr val="FFFFFF"/>
                          </a:solidFill>
                          <a:latin typeface="Times New Roman"/>
                        </a:rPr>
                        <a:t>Area</a:t>
                      </a:r>
                    </a:p>
                  </a:txBody>
                  <a:tcPr marL="54864" marR="54864" marT="36576" marB="36576">
                    <a:solidFill>
                      <a:srgbClr val="3F6B3A"/>
                    </a:solidFill>
                  </a:tcPr>
                </a:tc>
                <a:tc>
                  <a:txBody>
                    <a:bodyPr wrap="square"/>
                    <a:lstStyle/>
                    <a:p>
                      <a:r>
                        <a:rPr sz="1400" b="1">
                          <a:solidFill>
                            <a:srgbClr val="FFFFFF"/>
                          </a:solidFill>
                          <a:latin typeface="Times New Roman"/>
                        </a:rPr>
                        <a:t>Unit tests</a:t>
                      </a:r>
                    </a:p>
                  </a:txBody>
                  <a:tcPr marL="54864" marR="54864" marT="36576" marB="36576">
                    <a:solidFill>
                      <a:srgbClr val="3F6B3A"/>
                    </a:solidFill>
                  </a:tcPr>
                </a:tc>
                <a:tc>
                  <a:txBody>
                    <a:bodyPr wrap="square"/>
                    <a:lstStyle/>
                    <a:p>
                      <a:r>
                        <a:rPr sz="1400" b="1">
                          <a:solidFill>
                            <a:srgbClr val="FFFFFF"/>
                          </a:solidFill>
                          <a:latin typeface="Times New Roman"/>
                        </a:rPr>
                        <a:t>Integration tests</a:t>
                      </a:r>
                    </a:p>
                  </a:txBody>
                  <a:tcPr marL="54864" marR="54864" marT="36576" marB="36576">
                    <a:solidFill>
                      <a:srgbClr val="3F6B3A"/>
                    </a:solidFill>
                  </a:tcPr>
                </a:tc>
                <a:tc>
                  <a:txBody>
                    <a:bodyPr wrap="square"/>
                    <a:lstStyle/>
                    <a:p>
                      <a:r>
                        <a:rPr sz="1400" b="1">
                          <a:solidFill>
                            <a:srgbClr val="FFFFFF"/>
                          </a:solidFill>
                          <a:latin typeface="Times New Roman"/>
                        </a:rPr>
                        <a:t>System tests</a:t>
                      </a:r>
                    </a:p>
                  </a:txBody>
                  <a:tcPr marL="54864" marR="54864" marT="36576" marB="36576">
                    <a:solidFill>
                      <a:srgbClr val="3F6B3A"/>
                    </a:solidFill>
                  </a:tcPr>
                </a:tc>
                <a:tc>
                  <a:txBody>
                    <a:bodyPr wrap="square"/>
                    <a:lstStyle/>
                    <a:p>
                      <a:r>
                        <a:rPr sz="1400" b="1">
                          <a:solidFill>
                            <a:srgbClr val="FFFFFF"/>
                          </a:solidFill>
                          <a:latin typeface="Times New Roman"/>
                        </a:rPr>
                        <a:t>Total passed</a:t>
                      </a:r>
                    </a:p>
                  </a:txBody>
                  <a:tcPr marL="54864" marR="54864" marT="36576" marB="36576">
                    <a:solidFill>
                      <a:srgbClr val="3F6B3A"/>
                    </a:solidFill>
                  </a:tcPr>
                </a:tc>
              </a:tr>
              <a:tr h="594360">
                <a:tc>
                  <a:txBody>
                    <a:bodyPr wrap="square"/>
                    <a:lstStyle/>
                    <a:p>
                      <a:r>
                        <a:rPr sz="1400" b="1">
                          <a:solidFill>
                            <a:srgbClr val="222222"/>
                          </a:solidFill>
                          <a:latin typeface="Times New Roman"/>
                        </a:rPr>
                        <a:t>Backend</a:t>
                      </a:r>
                    </a:p>
                  </a:txBody>
                  <a:tcPr marL="54864" marR="54864" marT="36576" marB="36576"/>
                </a:tc>
                <a:tc>
                  <a:txBody>
                    <a:bodyPr wrap="square"/>
                    <a:lstStyle/>
                    <a:p>
                      <a:r>
                        <a:rPr sz="1400" b="0">
                          <a:solidFill>
                            <a:srgbClr val="222222"/>
                          </a:solidFill>
                          <a:latin typeface="Times New Roman"/>
                        </a:rPr>
                        <a:t>15 / 15</a:t>
                      </a:r>
                    </a:p>
                  </a:txBody>
                  <a:tcPr marL="54864" marR="54864" marT="36576" marB="36576"/>
                </a:tc>
                <a:tc>
                  <a:txBody>
                    <a:bodyPr wrap="square"/>
                    <a:lstStyle/>
                    <a:p>
                      <a:r>
                        <a:rPr sz="1400" b="0">
                          <a:solidFill>
                            <a:srgbClr val="222222"/>
                          </a:solidFill>
                          <a:latin typeface="Times New Roman"/>
                        </a:rPr>
                        <a:t>8 / 8</a:t>
                      </a:r>
                    </a:p>
                  </a:txBody>
                  <a:tcPr marL="54864" marR="54864" marT="36576" marB="36576"/>
                </a:tc>
                <a:tc>
                  <a:txBody>
                    <a:bodyPr wrap="square"/>
                    <a:lstStyle/>
                    <a:p>
                      <a:r>
                        <a:rPr sz="1400" b="0">
                          <a:solidFill>
                            <a:srgbClr val="222222"/>
                          </a:solidFill>
                          <a:latin typeface="Times New Roman"/>
                        </a:rPr>
                        <a:t>6 / 6</a:t>
                      </a:r>
                    </a:p>
                  </a:txBody>
                  <a:tcPr marL="54864" marR="54864" marT="36576" marB="36576"/>
                </a:tc>
                <a:tc>
                  <a:txBody>
                    <a:bodyPr wrap="square"/>
                    <a:lstStyle/>
                    <a:p>
                      <a:r>
                        <a:rPr sz="1400" b="1">
                          <a:solidFill>
                            <a:srgbClr val="222222"/>
                          </a:solidFill>
                          <a:latin typeface="Times New Roman"/>
                        </a:rPr>
                        <a:t>29 / 29</a:t>
                      </a:r>
                    </a:p>
                  </a:txBody>
                  <a:tcPr marL="54864" marR="54864" marT="36576" marB="36576"/>
                </a:tc>
              </a:tr>
              <a:tr h="594360">
                <a:tc>
                  <a:txBody>
                    <a:bodyPr wrap="square"/>
                    <a:lstStyle/>
                    <a:p>
                      <a:r>
                        <a:rPr sz="1400" b="1">
                          <a:solidFill>
                            <a:srgbClr val="222222"/>
                          </a:solidFill>
                          <a:latin typeface="Times New Roman"/>
                        </a:rPr>
                        <a:t>Models</a:t>
                      </a:r>
                    </a:p>
                  </a:txBody>
                  <a:tcPr marL="54864" marR="54864" marT="36576" marB="36576"/>
                </a:tc>
                <a:tc>
                  <a:txBody>
                    <a:bodyPr wrap="square"/>
                    <a:lstStyle/>
                    <a:p>
                      <a:r>
                        <a:rPr sz="1400" b="0">
                          <a:solidFill>
                            <a:srgbClr val="222222"/>
                          </a:solidFill>
                          <a:latin typeface="Times New Roman"/>
                        </a:rPr>
                        <a:t>13 / 13</a:t>
                      </a:r>
                    </a:p>
                  </a:txBody>
                  <a:tcPr marL="54864" marR="54864" marT="36576" marB="36576"/>
                </a:tc>
                <a:tc>
                  <a:txBody>
                    <a:bodyPr wrap="square"/>
                    <a:lstStyle/>
                    <a:p>
                      <a:r>
                        <a:rPr sz="1400" b="0">
                          <a:solidFill>
                            <a:srgbClr val="222222"/>
                          </a:solidFill>
                          <a:latin typeface="Times New Roman"/>
                        </a:rPr>
                        <a:t>7 / 7</a:t>
                      </a:r>
                    </a:p>
                  </a:txBody>
                  <a:tcPr marL="54864" marR="54864" marT="36576" marB="36576"/>
                </a:tc>
                <a:tc>
                  <a:txBody>
                    <a:bodyPr wrap="square"/>
                    <a:lstStyle/>
                    <a:p>
                      <a:r>
                        <a:rPr sz="1400" b="0">
                          <a:solidFill>
                            <a:srgbClr val="222222"/>
                          </a:solidFill>
                          <a:latin typeface="Times New Roman"/>
                        </a:rPr>
                        <a:t>4 / 4</a:t>
                      </a:r>
                    </a:p>
                  </a:txBody>
                  <a:tcPr marL="54864" marR="54864" marT="36576" marB="36576"/>
                </a:tc>
                <a:tc>
                  <a:txBody>
                    <a:bodyPr wrap="square"/>
                    <a:lstStyle/>
                    <a:p>
                      <a:r>
                        <a:rPr sz="1400" b="1">
                          <a:solidFill>
                            <a:srgbClr val="222222"/>
                          </a:solidFill>
                          <a:latin typeface="Times New Roman"/>
                        </a:rPr>
                        <a:t>24 / 24</a:t>
                      </a:r>
                    </a:p>
                  </a:txBody>
                  <a:tcPr marL="54864" marR="54864" marT="36576" marB="36576"/>
                </a:tc>
              </a:tr>
              <a:tr h="594360">
                <a:tc>
                  <a:txBody>
                    <a:bodyPr wrap="square"/>
                    <a:lstStyle/>
                    <a:p>
                      <a:r>
                        <a:rPr sz="1400" b="1">
                          <a:solidFill>
                            <a:srgbClr val="222222"/>
                          </a:solidFill>
                          <a:latin typeface="Times New Roman"/>
                        </a:rPr>
                        <a:t>All</a:t>
                      </a:r>
                    </a:p>
                  </a:txBody>
                  <a:tcPr marL="54864" marR="54864" marT="36576" marB="36576">
                    <a:solidFill>
                      <a:srgbClr val="E7EFE2"/>
                    </a:solidFill>
                  </a:tcPr>
                </a:tc>
                <a:tc>
                  <a:txBody>
                    <a:bodyPr wrap="square"/>
                    <a:lstStyle/>
                    <a:p>
                      <a:r>
                        <a:rPr sz="1400" b="0">
                          <a:solidFill>
                            <a:srgbClr val="222222"/>
                          </a:solidFill>
                          <a:latin typeface="Times New Roman"/>
                        </a:rPr>
                        <a:t>28 / 28</a:t>
                      </a:r>
                    </a:p>
                  </a:txBody>
                  <a:tcPr marL="54864" marR="54864" marT="36576" marB="36576">
                    <a:solidFill>
                      <a:srgbClr val="E7EFE2"/>
                    </a:solidFill>
                  </a:tcPr>
                </a:tc>
                <a:tc>
                  <a:txBody>
                    <a:bodyPr wrap="square"/>
                    <a:lstStyle/>
                    <a:p>
                      <a:r>
                        <a:rPr sz="1400" b="0">
                          <a:solidFill>
                            <a:srgbClr val="222222"/>
                          </a:solidFill>
                          <a:latin typeface="Times New Roman"/>
                        </a:rPr>
                        <a:t>15 / 15</a:t>
                      </a:r>
                    </a:p>
                  </a:txBody>
                  <a:tcPr marL="54864" marR="54864" marT="36576" marB="36576">
                    <a:solidFill>
                      <a:srgbClr val="E7EFE2"/>
                    </a:solidFill>
                  </a:tcPr>
                </a:tc>
                <a:tc>
                  <a:txBody>
                    <a:bodyPr wrap="square"/>
                    <a:lstStyle/>
                    <a:p>
                      <a:r>
                        <a:rPr sz="1400" b="0">
                          <a:solidFill>
                            <a:srgbClr val="222222"/>
                          </a:solidFill>
                          <a:latin typeface="Times New Roman"/>
                        </a:rPr>
                        <a:t>10 / 10</a:t>
                      </a:r>
                    </a:p>
                  </a:txBody>
                  <a:tcPr marL="54864" marR="54864" marT="36576" marB="36576">
                    <a:solidFill>
                      <a:srgbClr val="E7EFE2"/>
                    </a:solidFill>
                  </a:tcPr>
                </a:tc>
                <a:tc>
                  <a:txBody>
                    <a:bodyPr wrap="square"/>
                    <a:lstStyle/>
                    <a:p>
                      <a:r>
                        <a:rPr sz="1400" b="1">
                          <a:solidFill>
                            <a:srgbClr val="222222"/>
                          </a:solidFill>
                          <a:latin typeface="Times New Roman"/>
                        </a:rPr>
                        <a:t>53 / 53</a:t>
                      </a:r>
                    </a:p>
                  </a:txBody>
                  <a:tcPr marL="54864" marR="54864" marT="36576" marB="36576">
                    <a:solidFill>
                      <a:srgbClr val="E7EFE2"/>
                    </a:solidFill>
                  </a:tcPr>
                </a:tc>
              </a:tr>
            </a:tbl>
          </a:graphicData>
        </a:graphic>
      </p:graphicFrame>
      <p:sp>
        <p:nvSpPr>
          <p:cNvPr id="4" name="TextBox 3"/>
          <p:cNvSpPr txBox="1"/>
          <p:nvPr/>
        </p:nvSpPr>
        <p:spPr>
          <a:xfrm>
            <a:off x="365760" y="3931920"/>
            <a:ext cx="11430000" cy="1280160"/>
          </a:xfrm>
          <a:prstGeom prst="rect">
            <a:avLst/>
          </a:prstGeom>
          <a:noFill/>
        </p:spPr>
        <p:txBody>
          <a:bodyPr wrap="square">
            <a:spAutoFit/>
          </a:bodyPr>
          <a:lstStyle/>
          <a:p>
            <a:r>
              <a:rPr sz="1600" b="0">
                <a:solidFill>
                  <a:srgbClr val="222222"/>
                </a:solidFill>
                <a:latin typeface="Times New Roman"/>
              </a:rPr>
              <a:t>Unit testing checks one module alone, integration testing checks modules working together (for example live data adapters with the database, or the CNN with the API), and system testing checks the whole backend and all three models end to end.</a:t>
            </a:r>
          </a:p>
        </p:txBody>
      </p:sp>
      <p:sp>
        <p:nvSpPr>
          <p:cNvPr id="5" name="TextBox 4"/>
          <p:cNvSpPr txBox="1"/>
          <p:nvPr/>
        </p:nvSpPr>
        <p:spPr>
          <a:xfrm>
            <a:off x="365760" y="5120640"/>
            <a:ext cx="11430000" cy="1097280"/>
          </a:xfrm>
          <a:prstGeom prst="rect">
            <a:avLst/>
          </a:prstGeom>
          <a:noFill/>
        </p:spPr>
        <p:txBody>
          <a:bodyPr wrap="square">
            <a:spAutoFit/>
          </a:bodyPr>
          <a:lstStyle/>
          <a:p>
            <a:r>
              <a:rPr sz="1400" b="0">
                <a:solidFill>
                  <a:srgbClr val="555555"/>
                </a:solidFill>
                <a:latin typeface="Times New Roman"/>
              </a:rPr>
              <a:t>Test method: a script (test_cases.py) calls the running backend and the models with real requests and real live data (Open-Meteo, SoilGrids, Google Earth Engine) and records what actually happened.</a:t>
            </a:r>
          </a:p>
        </p:txBody>
      </p:sp>
      <p:sp>
        <p:nvSpPr>
          <p:cNvPr id="6" name="TextBox 5"/>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7" name="TextBox 6"/>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13.1 Unit Testing: Backend (1/4)</a:t>
            </a:r>
          </a:p>
        </p:txBody>
      </p:sp>
      <p:graphicFrame>
        <p:nvGraphicFramePr>
          <p:cNvPr id="3" name="Table 2"/>
          <p:cNvGraphicFramePr>
            <a:graphicFrameLocks noGrp="1"/>
          </p:cNvGraphicFramePr>
          <p:nvPr/>
        </p:nvGraphicFramePr>
        <p:xfrm>
          <a:off x="365760" y="960120"/>
          <a:ext cx="11704320" cy="461772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Module</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1.</a:t>
                      </a:r>
                    </a:p>
                  </a:txBody>
                  <a:tcPr marL="54864" marR="54864" marT="36576" marB="36576">
                    <a:solidFill>
                      <a:srgbClr val="FFFFFF"/>
                    </a:solidFill>
                  </a:tcPr>
                </a:tc>
                <a:tc>
                  <a:txBody>
                    <a:bodyPr wrap="square"/>
                    <a:lstStyle/>
                    <a:p>
                      <a:r>
                        <a:rPr sz="1200" b="0">
                          <a:solidFill>
                            <a:srgbClr val="222222"/>
                          </a:solidFill>
                          <a:latin typeface="Times New Roman"/>
                        </a:rPr>
                        <a:t>Health endpoint</a:t>
                      </a:r>
                    </a:p>
                  </a:txBody>
                  <a:tcPr marL="54864" marR="54864" marT="36576" marB="36576">
                    <a:solidFill>
                      <a:srgbClr val="FFFFFF"/>
                    </a:solidFill>
                  </a:tcPr>
                </a:tc>
                <a:tc>
                  <a:txBody>
                    <a:bodyPr wrap="square"/>
                    <a:lstStyle/>
                    <a:p>
                      <a:r>
                        <a:rPr sz="1200" b="0">
                          <a:solidFill>
                            <a:srgbClr val="222222"/>
                          </a:solidFill>
                          <a:latin typeface="Times New Roman"/>
                        </a:rPr>
                        <a:t>GET /health</a:t>
                      </a:r>
                    </a:p>
                  </a:txBody>
                  <a:tcPr marL="54864" marR="54864" marT="36576" marB="36576">
                    <a:solidFill>
                      <a:srgbClr val="FFFFFF"/>
                    </a:solidFill>
                  </a:tcPr>
                </a:tc>
                <a:tc>
                  <a:txBody>
                    <a:bodyPr wrap="square"/>
                    <a:lstStyle/>
                    <a:p>
                      <a:r>
                        <a:rPr sz="1200" b="0">
                          <a:solidFill>
                            <a:srgbClr val="222222"/>
                          </a:solidFill>
                          <a:latin typeface="Times New Roman"/>
                        </a:rPr>
                        <a:t>HTTP 200 and {"status": "ok"}</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HTTP 200 {'status': 'ok'}</a:t>
                      </a:r>
                    </a:p>
                  </a:txBody>
                  <a:tcPr marL="54864" marR="54864" marT="36576" marB="36576">
                    <a:solidFill>
                      <a:srgbClr val="FFFFFF"/>
                    </a:solidFill>
                  </a:tcPr>
                </a:tc>
              </a:tr>
              <a:tr h="1051560">
                <a:tc>
                  <a:txBody>
                    <a:bodyPr wrap="square"/>
                    <a:lstStyle/>
                    <a:p>
                      <a:r>
                        <a:rPr sz="1200" b="0">
                          <a:solidFill>
                            <a:srgbClr val="222222"/>
                          </a:solidFill>
                          <a:latin typeface="Times New Roman"/>
                        </a:rPr>
                        <a:t>2.</a:t>
                      </a:r>
                    </a:p>
                  </a:txBody>
                  <a:tcPr marL="54864" marR="54864" marT="36576" marB="36576">
                    <a:solidFill>
                      <a:srgbClr val="E7EFE2"/>
                    </a:solidFill>
                  </a:tcPr>
                </a:tc>
                <a:tc>
                  <a:txBody>
                    <a:bodyPr wrap="square"/>
                    <a:lstStyle/>
                    <a:p>
                      <a:r>
                        <a:rPr sz="1200" b="0">
                          <a:solidFill>
                            <a:srgbClr val="222222"/>
                          </a:solidFill>
                          <a:latin typeface="Times New Roman"/>
                        </a:rPr>
                        <a:t>API key security</a:t>
                      </a:r>
                    </a:p>
                  </a:txBody>
                  <a:tcPr marL="54864" marR="54864" marT="36576" marB="36576">
                    <a:solidFill>
                      <a:srgbClr val="E7EFE2"/>
                    </a:solidFill>
                  </a:tcPr>
                </a:tc>
                <a:tc>
                  <a:txBody>
                    <a:bodyPr wrap="square"/>
                    <a:lstStyle/>
                    <a:p>
                      <a:r>
                        <a:rPr sz="1200" b="0">
                          <a:solidFill>
                            <a:srgbClr val="222222"/>
                          </a:solidFill>
                          <a:latin typeface="Times New Roman"/>
                        </a:rPr>
                        <a:t>GET /fields with no key, then with a wrong key</a:t>
                      </a:r>
                    </a:p>
                  </a:txBody>
                  <a:tcPr marL="54864" marR="54864" marT="36576" marB="36576">
                    <a:solidFill>
                      <a:srgbClr val="E7EFE2"/>
                    </a:solidFill>
                  </a:tcPr>
                </a:tc>
                <a:tc>
                  <a:txBody>
                    <a:bodyPr wrap="square"/>
                    <a:lstStyle/>
                    <a:p>
                      <a:r>
                        <a:rPr sz="1200" b="0">
                          <a:solidFill>
                            <a:srgbClr val="222222"/>
                          </a:solidFill>
                          <a:latin typeface="Times New Roman"/>
                        </a:rPr>
                        <a:t>Both rejected with HTTP 401 UNAUTHORIZED</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no key: HTTP 401, wrong key: HTTP 401</a:t>
                      </a:r>
                    </a:p>
                  </a:txBody>
                  <a:tcPr marL="54864" marR="54864" marT="36576" marB="36576">
                    <a:solidFill>
                      <a:srgbClr val="E7EFE2"/>
                    </a:solidFill>
                  </a:tcPr>
                </a:tc>
              </a:tr>
              <a:tr h="1051560">
                <a:tc>
                  <a:txBody>
                    <a:bodyPr wrap="square"/>
                    <a:lstStyle/>
                    <a:p>
                      <a:r>
                        <a:rPr sz="1200" b="0">
                          <a:solidFill>
                            <a:srgbClr val="222222"/>
                          </a:solidFill>
                          <a:latin typeface="Times New Roman"/>
                        </a:rPr>
                        <a:t>3.</a:t>
                      </a:r>
                    </a:p>
                  </a:txBody>
                  <a:tcPr marL="54864" marR="54864" marT="36576" marB="36576">
                    <a:solidFill>
                      <a:srgbClr val="FFFFFF"/>
                    </a:solidFill>
                  </a:tcPr>
                </a:tc>
                <a:tc>
                  <a:txBody>
                    <a:bodyPr wrap="square"/>
                    <a:lstStyle/>
                    <a:p>
                      <a:r>
                        <a:rPr sz="1200" b="0">
                          <a:solidFill>
                            <a:srgbClr val="222222"/>
                          </a:solidFill>
                          <a:latin typeface="Times New Roman"/>
                        </a:rPr>
                        <a:t>Farmer profile</a:t>
                      </a:r>
                    </a:p>
                  </a:txBody>
                  <a:tcPr marL="54864" marR="54864" marT="36576" marB="36576">
                    <a:solidFill>
                      <a:srgbClr val="FFFFFF"/>
                    </a:solidFill>
                  </a:tcPr>
                </a:tc>
                <a:tc>
                  <a:txBody>
                    <a:bodyPr wrap="square"/>
                    <a:lstStyle/>
                    <a:p>
                      <a:r>
                        <a:rPr sz="1200" b="0">
                          <a:solidFill>
                            <a:srgbClr val="222222"/>
                          </a:solidFill>
                          <a:latin typeface="Times New Roman"/>
                        </a:rPr>
                        <a:t>GET /farmers/me</a:t>
                      </a:r>
                    </a:p>
                  </a:txBody>
                  <a:tcPr marL="54864" marR="54864" marT="36576" marB="36576">
                    <a:solidFill>
                      <a:srgbClr val="FFFFFF"/>
                    </a:solidFill>
                  </a:tcPr>
                </a:tc>
                <a:tc>
                  <a:txBody>
                    <a:bodyPr wrap="square"/>
                    <a:lstStyle/>
                    <a:p>
                      <a:r>
                        <a:rPr sz="1200" b="0">
                          <a:solidFill>
                            <a:srgbClr val="222222"/>
                          </a:solidFill>
                          <a:latin typeface="Times New Roman"/>
                        </a:rPr>
                        <a:t>HTTP 200 with the farmer's name and no password hash in the reply</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HTTP 200, name=Ritesh, language=hi</a:t>
                      </a:r>
                    </a:p>
                  </a:txBody>
                  <a:tcPr marL="54864" marR="54864" marT="36576" marB="36576">
                    <a:solidFill>
                      <a:srgbClr val="FFFFFF"/>
                    </a:solidFill>
                  </a:tcPr>
                </a:tc>
              </a:tr>
              <a:tr h="1051560">
                <a:tc>
                  <a:txBody>
                    <a:bodyPr wrap="square"/>
                    <a:lstStyle/>
                    <a:p>
                      <a:r>
                        <a:rPr sz="1200" b="0">
                          <a:solidFill>
                            <a:srgbClr val="222222"/>
                          </a:solidFill>
                          <a:latin typeface="Times New Roman"/>
                        </a:rPr>
                        <a:t>4.</a:t>
                      </a:r>
                    </a:p>
                  </a:txBody>
                  <a:tcPr marL="54864" marR="54864" marT="36576" marB="36576">
                    <a:solidFill>
                      <a:srgbClr val="E7EFE2"/>
                    </a:solidFill>
                  </a:tcPr>
                </a:tc>
                <a:tc>
                  <a:txBody>
                    <a:bodyPr wrap="square"/>
                    <a:lstStyle/>
                    <a:p>
                      <a:r>
                        <a:rPr sz="1200" b="0">
                          <a:solidFill>
                            <a:srgbClr val="222222"/>
                          </a:solidFill>
                          <a:latin typeface="Times New Roman"/>
                        </a:rPr>
                        <a:t>Field listing</a:t>
                      </a:r>
                    </a:p>
                  </a:txBody>
                  <a:tcPr marL="54864" marR="54864" marT="36576" marB="36576">
                    <a:solidFill>
                      <a:srgbClr val="E7EFE2"/>
                    </a:solidFill>
                  </a:tcPr>
                </a:tc>
                <a:tc>
                  <a:txBody>
                    <a:bodyPr wrap="square"/>
                    <a:lstStyle/>
                    <a:p>
                      <a:r>
                        <a:rPr sz="1200" b="0">
                          <a:solidFill>
                            <a:srgbClr val="222222"/>
                          </a:solidFill>
                          <a:latin typeface="Times New Roman"/>
                        </a:rPr>
                        <a:t>GET /fields</a:t>
                      </a:r>
                    </a:p>
                  </a:txBody>
                  <a:tcPr marL="54864" marR="54864" marT="36576" marB="36576">
                    <a:solidFill>
                      <a:srgbClr val="E7EFE2"/>
                    </a:solidFill>
                  </a:tcPr>
                </a:tc>
                <a:tc>
                  <a:txBody>
                    <a:bodyPr wrap="square"/>
                    <a:lstStyle/>
                    <a:p>
                      <a:r>
                        <a:rPr sz="1200" b="0">
                          <a:solidFill>
                            <a:srgbClr val="222222"/>
                          </a:solidFill>
                          <a:latin typeface="Times New Roman"/>
                        </a:rPr>
                        <a:t>HTTP 200, at least 4 fields, each with latitude, longitude and area</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HTTP 200, 4 fields</a:t>
                      </a:r>
                    </a:p>
                  </a:txBody>
                  <a:tcPr marL="54864" marR="54864" marT="36576" marB="36576">
                    <a:solidFill>
                      <a:srgbClr val="E7EFE2"/>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13.1 Unit Testing: Backend (2/4)</a:t>
            </a:r>
          </a:p>
        </p:txBody>
      </p:sp>
      <p:graphicFrame>
        <p:nvGraphicFramePr>
          <p:cNvPr id="3" name="Table 2"/>
          <p:cNvGraphicFramePr>
            <a:graphicFrameLocks noGrp="1"/>
          </p:cNvGraphicFramePr>
          <p:nvPr/>
        </p:nvGraphicFramePr>
        <p:xfrm>
          <a:off x="365760" y="960120"/>
          <a:ext cx="11704320" cy="461772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Module</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5.</a:t>
                      </a:r>
                    </a:p>
                  </a:txBody>
                  <a:tcPr marL="54864" marR="54864" marT="36576" marB="36576">
                    <a:solidFill>
                      <a:srgbClr val="FFFFFF"/>
                    </a:solidFill>
                  </a:tcPr>
                </a:tc>
                <a:tc>
                  <a:txBody>
                    <a:bodyPr wrap="square"/>
                    <a:lstStyle/>
                    <a:p>
                      <a:r>
                        <a:rPr sz="1200" b="0">
                          <a:solidFill>
                            <a:srgbClr val="222222"/>
                          </a:solidFill>
                          <a:latin typeface="Times New Roman"/>
                        </a:rPr>
                        <a:t>Field validation (range)</a:t>
                      </a:r>
                    </a:p>
                  </a:txBody>
                  <a:tcPr marL="54864" marR="54864" marT="36576" marB="36576">
                    <a:solidFill>
                      <a:srgbClr val="FFFFFF"/>
                    </a:solidFill>
                  </a:tcPr>
                </a:tc>
                <a:tc>
                  <a:txBody>
                    <a:bodyPr wrap="square"/>
                    <a:lstStyle/>
                    <a:p>
                      <a:r>
                        <a:rPr sz="1200" b="0">
                          <a:solidFill>
                            <a:srgbClr val="222222"/>
                          </a:solidFill>
                          <a:latin typeface="Times New Roman"/>
                        </a:rPr>
                        <a:t>POST /fields with latitude 200</a:t>
                      </a:r>
                    </a:p>
                  </a:txBody>
                  <a:tcPr marL="54864" marR="54864" marT="36576" marB="36576">
                    <a:solidFill>
                      <a:srgbClr val="FFFFFF"/>
                    </a:solidFill>
                  </a:tcPr>
                </a:tc>
                <a:tc>
                  <a:txBody>
                    <a:bodyPr wrap="square"/>
                    <a:lstStyle/>
                    <a:p>
                      <a:r>
                        <a:rPr sz="1200" b="0">
                          <a:solidFill>
                            <a:srgbClr val="222222"/>
                          </a:solidFill>
                          <a:latin typeface="Times New Roman"/>
                        </a:rPr>
                        <a:t>HTTP 400 BAD_REQUEST, nothing is saved</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HTTP 400: latitude must be &lt;= 90</a:t>
                      </a:r>
                    </a:p>
                  </a:txBody>
                  <a:tcPr marL="54864" marR="54864" marT="36576" marB="36576">
                    <a:solidFill>
                      <a:srgbClr val="FFFFFF"/>
                    </a:solidFill>
                  </a:tcPr>
                </a:tc>
              </a:tr>
              <a:tr h="1051560">
                <a:tc>
                  <a:txBody>
                    <a:bodyPr wrap="square"/>
                    <a:lstStyle/>
                    <a:p>
                      <a:r>
                        <a:rPr sz="1200" b="0">
                          <a:solidFill>
                            <a:srgbClr val="222222"/>
                          </a:solidFill>
                          <a:latin typeface="Times New Roman"/>
                        </a:rPr>
                        <a:t>6.</a:t>
                      </a:r>
                    </a:p>
                  </a:txBody>
                  <a:tcPr marL="54864" marR="54864" marT="36576" marB="36576">
                    <a:solidFill>
                      <a:srgbClr val="E7EFE2"/>
                    </a:solidFill>
                  </a:tcPr>
                </a:tc>
                <a:tc>
                  <a:txBody>
                    <a:bodyPr wrap="square"/>
                    <a:lstStyle/>
                    <a:p>
                      <a:r>
                        <a:rPr sz="1200" b="0">
                          <a:solidFill>
                            <a:srgbClr val="222222"/>
                          </a:solidFill>
                          <a:latin typeface="Times New Roman"/>
                        </a:rPr>
                        <a:t>Field validation (missing data)</a:t>
                      </a:r>
                    </a:p>
                  </a:txBody>
                  <a:tcPr marL="54864" marR="54864" marT="36576" marB="36576">
                    <a:solidFill>
                      <a:srgbClr val="E7EFE2"/>
                    </a:solidFill>
                  </a:tcPr>
                </a:tc>
                <a:tc>
                  <a:txBody>
                    <a:bodyPr wrap="square"/>
                    <a:lstStyle/>
                    <a:p>
                      <a:r>
                        <a:rPr sz="1200" b="0">
                          <a:solidFill>
                            <a:srgbClr val="222222"/>
                          </a:solidFill>
                          <a:latin typeface="Times New Roman"/>
                        </a:rPr>
                        <a:t>POST /fields without the name</a:t>
                      </a:r>
                    </a:p>
                  </a:txBody>
                  <a:tcPr marL="54864" marR="54864" marT="36576" marB="36576">
                    <a:solidFill>
                      <a:srgbClr val="E7EFE2"/>
                    </a:solidFill>
                  </a:tcPr>
                </a:tc>
                <a:tc>
                  <a:txBody>
                    <a:bodyPr wrap="square"/>
                    <a:lstStyle/>
                    <a:p>
                      <a:r>
                        <a:rPr sz="1200" b="0">
                          <a:solidFill>
                            <a:srgbClr val="222222"/>
                          </a:solidFill>
                          <a:latin typeface="Times New Roman"/>
                        </a:rPr>
                        <a:t>HTTP 400 that names the missing field</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HTTP 400: Missing required fields: name</a:t>
                      </a:r>
                    </a:p>
                  </a:txBody>
                  <a:tcPr marL="54864" marR="54864" marT="36576" marB="36576">
                    <a:solidFill>
                      <a:srgbClr val="E7EFE2"/>
                    </a:solidFill>
                  </a:tcPr>
                </a:tc>
              </a:tr>
              <a:tr h="1051560">
                <a:tc>
                  <a:txBody>
                    <a:bodyPr wrap="square"/>
                    <a:lstStyle/>
                    <a:p>
                      <a:r>
                        <a:rPr sz="1200" b="0">
                          <a:solidFill>
                            <a:srgbClr val="222222"/>
                          </a:solidFill>
                          <a:latin typeface="Times New Roman"/>
                        </a:rPr>
                        <a:t>7.</a:t>
                      </a:r>
                    </a:p>
                  </a:txBody>
                  <a:tcPr marL="54864" marR="54864" marT="36576" marB="36576">
                    <a:solidFill>
                      <a:srgbClr val="FFFFFF"/>
                    </a:solidFill>
                  </a:tcPr>
                </a:tc>
                <a:tc>
                  <a:txBody>
                    <a:bodyPr wrap="square"/>
                    <a:lstStyle/>
                    <a:p>
                      <a:r>
                        <a:rPr sz="1200" b="0">
                          <a:solidFill>
                            <a:srgbClr val="222222"/>
                          </a:solidFill>
                          <a:latin typeface="Times New Roman"/>
                        </a:rPr>
                        <a:t>Unknown field</a:t>
                      </a:r>
                    </a:p>
                  </a:txBody>
                  <a:tcPr marL="54864" marR="54864" marT="36576" marB="36576">
                    <a:solidFill>
                      <a:srgbClr val="FFFFFF"/>
                    </a:solidFill>
                  </a:tcPr>
                </a:tc>
                <a:tc>
                  <a:txBody>
                    <a:bodyPr wrap="square"/>
                    <a:lstStyle/>
                    <a:p>
                      <a:r>
                        <a:rPr sz="1200" b="0">
                          <a:solidFill>
                            <a:srgbClr val="222222"/>
                          </a:solidFill>
                          <a:latin typeface="Times New Roman"/>
                        </a:rPr>
                        <a:t>GET /fields/does-not-exist</a:t>
                      </a:r>
                    </a:p>
                  </a:txBody>
                  <a:tcPr marL="54864" marR="54864" marT="36576" marB="36576">
                    <a:solidFill>
                      <a:srgbClr val="FFFFFF"/>
                    </a:solidFill>
                  </a:tcPr>
                </a:tc>
                <a:tc>
                  <a:txBody>
                    <a:bodyPr wrap="square"/>
                    <a:lstStyle/>
                    <a:p>
                      <a:r>
                        <a:rPr sz="1200" b="0">
                          <a:solidFill>
                            <a:srgbClr val="222222"/>
                          </a:solidFill>
                          <a:latin typeface="Times New Roman"/>
                        </a:rPr>
                        <a:t>HTTP 404 NOT_FOUND (not a 500)</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HTTP 404 NOT_FOUND</a:t>
                      </a:r>
                    </a:p>
                  </a:txBody>
                  <a:tcPr marL="54864" marR="54864" marT="36576" marB="36576">
                    <a:solidFill>
                      <a:srgbClr val="FFFFFF"/>
                    </a:solidFill>
                  </a:tcPr>
                </a:tc>
              </a:tr>
              <a:tr h="1051560">
                <a:tc>
                  <a:txBody>
                    <a:bodyPr wrap="square"/>
                    <a:lstStyle/>
                    <a:p>
                      <a:r>
                        <a:rPr sz="1200" b="0">
                          <a:solidFill>
                            <a:srgbClr val="222222"/>
                          </a:solidFill>
                          <a:latin typeface="Times New Roman"/>
                        </a:rPr>
                        <a:t>8.</a:t>
                      </a:r>
                    </a:p>
                  </a:txBody>
                  <a:tcPr marL="54864" marR="54864" marT="36576" marB="36576">
                    <a:solidFill>
                      <a:srgbClr val="E7EFE2"/>
                    </a:solidFill>
                  </a:tcPr>
                </a:tc>
                <a:tc>
                  <a:txBody>
                    <a:bodyPr wrap="square"/>
                    <a:lstStyle/>
                    <a:p>
                      <a:r>
                        <a:rPr sz="1200" b="0">
                          <a:solidFill>
                            <a:srgbClr val="222222"/>
                          </a:solidFill>
                          <a:latin typeface="Times New Roman"/>
                        </a:rPr>
                        <a:t>Image upload validation</a:t>
                      </a:r>
                    </a:p>
                  </a:txBody>
                  <a:tcPr marL="54864" marR="54864" marT="36576" marB="36576">
                    <a:solidFill>
                      <a:srgbClr val="E7EFE2"/>
                    </a:solidFill>
                  </a:tcPr>
                </a:tc>
                <a:tc>
                  <a:txBody>
                    <a:bodyPr wrap="square"/>
                    <a:lstStyle/>
                    <a:p>
                      <a:r>
                        <a:rPr sz="1200" b="0">
                          <a:solidFill>
                            <a:srgbClr val="222222"/>
                          </a:solidFill>
                          <a:latin typeface="Times New Roman"/>
                        </a:rPr>
                        <a:t>Upload a text file (app.py) as the image</a:t>
                      </a:r>
                    </a:p>
                  </a:txBody>
                  <a:tcPr marL="54864" marR="54864" marT="36576" marB="36576">
                    <a:solidFill>
                      <a:srgbClr val="E7EFE2"/>
                    </a:solidFill>
                  </a:tcPr>
                </a:tc>
                <a:tc>
                  <a:txBody>
                    <a:bodyPr wrap="square"/>
                    <a:lstStyle/>
                    <a:p>
                      <a:r>
                        <a:rPr sz="1200" b="0">
                          <a:solidFill>
                            <a:srgbClr val="222222"/>
                          </a:solidFill>
                          <a:latin typeface="Times New Roman"/>
                        </a:rPr>
                        <a:t>HTTP 400 "file is not a valid image"</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HTTP 400: file is not a valid image</a:t>
                      </a:r>
                    </a:p>
                  </a:txBody>
                  <a:tcPr marL="54864" marR="54864" marT="36576" marB="36576">
                    <a:solidFill>
                      <a:srgbClr val="E7EFE2"/>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13.1 Unit Testing: Backend (3/4)</a:t>
            </a:r>
          </a:p>
        </p:txBody>
      </p:sp>
      <p:graphicFrame>
        <p:nvGraphicFramePr>
          <p:cNvPr id="3" name="Table 2"/>
          <p:cNvGraphicFramePr>
            <a:graphicFrameLocks noGrp="1"/>
          </p:cNvGraphicFramePr>
          <p:nvPr/>
        </p:nvGraphicFramePr>
        <p:xfrm>
          <a:off x="365760" y="960120"/>
          <a:ext cx="11704320" cy="461772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Module</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9.</a:t>
                      </a:r>
                    </a:p>
                  </a:txBody>
                  <a:tcPr marL="54864" marR="54864" marT="36576" marB="36576">
                    <a:solidFill>
                      <a:srgbClr val="FFFFFF"/>
                    </a:solidFill>
                  </a:tcPr>
                </a:tc>
                <a:tc>
                  <a:txBody>
                    <a:bodyPr wrap="square"/>
                    <a:lstStyle/>
                    <a:p>
                      <a:r>
                        <a:rPr sz="1200" b="0">
                          <a:solidFill>
                            <a:srgbClr val="222222"/>
                          </a:solidFill>
                          <a:latin typeface="Times New Roman"/>
                        </a:rPr>
                        <a:t>Feedback validation</a:t>
                      </a:r>
                    </a:p>
                  </a:txBody>
                  <a:tcPr marL="54864" marR="54864" marT="36576" marB="36576">
                    <a:solidFill>
                      <a:srgbClr val="FFFFFF"/>
                    </a:solidFill>
                  </a:tcPr>
                </a:tc>
                <a:tc>
                  <a:txBody>
                    <a:bodyPr wrap="square"/>
                    <a:lstStyle/>
                    <a:p>
                      <a:r>
                        <a:rPr sz="1200" b="0">
                          <a:solidFill>
                            <a:srgbClr val="222222"/>
                          </a:solidFill>
                          <a:latin typeface="Times New Roman"/>
                        </a:rPr>
                        <a:t>POST /feedback with rating 9</a:t>
                      </a:r>
                    </a:p>
                  </a:txBody>
                  <a:tcPr marL="54864" marR="54864" marT="36576" marB="36576">
                    <a:solidFill>
                      <a:srgbClr val="FFFFFF"/>
                    </a:solidFill>
                  </a:tcPr>
                </a:tc>
                <a:tc>
                  <a:txBody>
                    <a:bodyPr wrap="square"/>
                    <a:lstStyle/>
                    <a:p>
                      <a:r>
                        <a:rPr sz="1200" b="0">
                          <a:solidFill>
                            <a:srgbClr val="222222"/>
                          </a:solidFill>
                          <a:latin typeface="Times New Roman"/>
                        </a:rPr>
                        <a:t>HTTP 400 BAD_REQUEST</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HTTP 400: rating must be an integer between 1 and 5</a:t>
                      </a:r>
                    </a:p>
                  </a:txBody>
                  <a:tcPr marL="54864" marR="54864" marT="36576" marB="36576">
                    <a:solidFill>
                      <a:srgbClr val="FFFFFF"/>
                    </a:solidFill>
                  </a:tcPr>
                </a:tc>
              </a:tr>
              <a:tr h="1051560">
                <a:tc>
                  <a:txBody>
                    <a:bodyPr wrap="square"/>
                    <a:lstStyle/>
                    <a:p>
                      <a:r>
                        <a:rPr sz="1200" b="0">
                          <a:solidFill>
                            <a:srgbClr val="222222"/>
                          </a:solidFill>
                          <a:latin typeface="Times New Roman"/>
                        </a:rPr>
                        <a:t>10.</a:t>
                      </a:r>
                    </a:p>
                  </a:txBody>
                  <a:tcPr marL="54864" marR="54864" marT="36576" marB="36576">
                    <a:solidFill>
                      <a:srgbClr val="E7EFE2"/>
                    </a:solidFill>
                  </a:tcPr>
                </a:tc>
                <a:tc>
                  <a:txBody>
                    <a:bodyPr wrap="square"/>
                    <a:lstStyle/>
                    <a:p>
                      <a:r>
                        <a:rPr sz="1200" b="0">
                          <a:solidFill>
                            <a:srgbClr val="222222"/>
                          </a:solidFill>
                          <a:latin typeface="Times New Roman"/>
                        </a:rPr>
                        <a:t>Weather adapter (Open-Meteo)</a:t>
                      </a:r>
                    </a:p>
                  </a:txBody>
                  <a:tcPr marL="54864" marR="54864" marT="36576" marB="36576">
                    <a:solidFill>
                      <a:srgbClr val="E7EFE2"/>
                    </a:solidFill>
                  </a:tcPr>
                </a:tc>
                <a:tc>
                  <a:txBody>
                    <a:bodyPr wrap="square"/>
                    <a:lstStyle/>
                    <a:p>
                      <a:r>
                        <a:rPr sz="1200" b="0">
                          <a:solidFill>
                            <a:srgbClr val="222222"/>
                          </a:solidFill>
                          <a:latin typeface="Times New Roman"/>
                        </a:rPr>
                        <a:t>Fetch live weather for the Ballari field coordinates</a:t>
                      </a:r>
                    </a:p>
                  </a:txBody>
                  <a:tcPr marL="54864" marR="54864" marT="36576" marB="36576">
                    <a:solidFill>
                      <a:srgbClr val="E7EFE2"/>
                    </a:solidFill>
                  </a:tcPr>
                </a:tc>
                <a:tc>
                  <a:txBody>
                    <a:bodyPr wrap="square"/>
                    <a:lstStyle/>
                    <a:p>
                      <a:r>
                        <a:rPr sz="1200" b="0">
                          <a:solidFill>
                            <a:srgbClr val="222222"/>
                          </a:solidFill>
                          <a:latin typeface="Times New Roman"/>
                        </a:rPr>
                        <a:t>Weather rows returned with temperature and humidity, source open_meteo</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7 rows, source open_meteo, first temp 27.2 C</a:t>
                      </a:r>
                    </a:p>
                  </a:txBody>
                  <a:tcPr marL="54864" marR="54864" marT="36576" marB="36576">
                    <a:solidFill>
                      <a:srgbClr val="E7EFE2"/>
                    </a:solidFill>
                  </a:tcPr>
                </a:tc>
              </a:tr>
              <a:tr h="1051560">
                <a:tc>
                  <a:txBody>
                    <a:bodyPr wrap="square"/>
                    <a:lstStyle/>
                    <a:p>
                      <a:r>
                        <a:rPr sz="1200" b="0">
                          <a:solidFill>
                            <a:srgbClr val="222222"/>
                          </a:solidFill>
                          <a:latin typeface="Times New Roman"/>
                        </a:rPr>
                        <a:t>11.</a:t>
                      </a:r>
                    </a:p>
                  </a:txBody>
                  <a:tcPr marL="54864" marR="54864" marT="36576" marB="36576">
                    <a:solidFill>
                      <a:srgbClr val="FFFFFF"/>
                    </a:solidFill>
                  </a:tcPr>
                </a:tc>
                <a:tc>
                  <a:txBody>
                    <a:bodyPr wrap="square"/>
                    <a:lstStyle/>
                    <a:p>
                      <a:r>
                        <a:rPr sz="1200" b="0">
                          <a:solidFill>
                            <a:srgbClr val="222222"/>
                          </a:solidFill>
                          <a:latin typeface="Times New Roman"/>
                        </a:rPr>
                        <a:t>Soil adapter (SoilGrids)</a:t>
                      </a:r>
                    </a:p>
                  </a:txBody>
                  <a:tcPr marL="54864" marR="54864" marT="36576" marB="36576">
                    <a:solidFill>
                      <a:srgbClr val="FFFFFF"/>
                    </a:solidFill>
                  </a:tcPr>
                </a:tc>
                <a:tc>
                  <a:txBody>
                    <a:bodyPr wrap="square"/>
                    <a:lstStyle/>
                    <a:p>
                      <a:r>
                        <a:rPr sz="1200" b="0">
                          <a:solidFill>
                            <a:srgbClr val="222222"/>
                          </a:solidFill>
                          <a:latin typeface="Times New Roman"/>
                        </a:rPr>
                        <a:t>Fetch live soil data for the Ballari field coordinates</a:t>
                      </a:r>
                    </a:p>
                  </a:txBody>
                  <a:tcPr marL="54864" marR="54864" marT="36576" marB="36576">
                    <a:solidFill>
                      <a:srgbClr val="FFFFFF"/>
                    </a:solidFill>
                  </a:tcPr>
                </a:tc>
                <a:tc>
                  <a:txBody>
                    <a:bodyPr wrap="square"/>
                    <a:lstStyle/>
                    <a:p>
                      <a:r>
                        <a:rPr sz="1200" b="0">
                          <a:solidFill>
                            <a:srgbClr val="222222"/>
                          </a:solidFill>
                          <a:latin typeface="Times New Roman"/>
                        </a:rPr>
                        <a:t>A soil record returned with source soilgrids</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1 record, source soilgrids, pH None</a:t>
                      </a:r>
                    </a:p>
                  </a:txBody>
                  <a:tcPr marL="54864" marR="54864" marT="36576" marB="36576">
                    <a:solidFill>
                      <a:srgbClr val="FFFFFF"/>
                    </a:solidFill>
                  </a:tcPr>
                </a:tc>
              </a:tr>
              <a:tr h="1051560">
                <a:tc>
                  <a:txBody>
                    <a:bodyPr wrap="square"/>
                    <a:lstStyle/>
                    <a:p>
                      <a:r>
                        <a:rPr sz="1200" b="0">
                          <a:solidFill>
                            <a:srgbClr val="222222"/>
                          </a:solidFill>
                          <a:latin typeface="Times New Roman"/>
                        </a:rPr>
                        <a:t>12.</a:t>
                      </a:r>
                    </a:p>
                  </a:txBody>
                  <a:tcPr marL="54864" marR="54864" marT="36576" marB="36576">
                    <a:solidFill>
                      <a:srgbClr val="E7EFE2"/>
                    </a:solidFill>
                  </a:tcPr>
                </a:tc>
                <a:tc>
                  <a:txBody>
                    <a:bodyPr wrap="square"/>
                    <a:lstStyle/>
                    <a:p>
                      <a:r>
                        <a:rPr sz="1200" b="0">
                          <a:solidFill>
                            <a:srgbClr val="222222"/>
                          </a:solidFill>
                          <a:latin typeface="Times New Roman"/>
                        </a:rPr>
                        <a:t>Satellite adapter (Google Earth Engine)</a:t>
                      </a:r>
                    </a:p>
                  </a:txBody>
                  <a:tcPr marL="54864" marR="54864" marT="36576" marB="36576">
                    <a:solidFill>
                      <a:srgbClr val="E7EFE2"/>
                    </a:solidFill>
                  </a:tcPr>
                </a:tc>
                <a:tc>
                  <a:txBody>
                    <a:bodyPr wrap="square"/>
                    <a:lstStyle/>
                    <a:p>
                      <a:r>
                        <a:rPr sz="1200" b="0">
                          <a:solidFill>
                            <a:srgbClr val="222222"/>
                          </a:solidFill>
                          <a:latin typeface="Times New Roman"/>
                        </a:rPr>
                        <a:t>Fetch live NDVI for the Ballari field coordinates</a:t>
                      </a:r>
                    </a:p>
                  </a:txBody>
                  <a:tcPr marL="54864" marR="54864" marT="36576" marB="36576">
                    <a:solidFill>
                      <a:srgbClr val="E7EFE2"/>
                    </a:solidFill>
                  </a:tcPr>
                </a:tc>
                <a:tc>
                  <a:txBody>
                    <a:bodyPr wrap="square"/>
                    <a:lstStyle/>
                    <a:p>
                      <a:r>
                        <a:rPr sz="1200" b="0">
                          <a:solidFill>
                            <a:srgbClr val="222222"/>
                          </a:solidFill>
                          <a:latin typeface="Times New Roman"/>
                        </a:rPr>
                        <a:t>NDVI between 0 and 1 from Sentinel-2, source gee_live</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source gee_live, NDVI 0.5136, scene date 2026-09-17, cloud 35.78%</a:t>
                      </a:r>
                    </a:p>
                  </a:txBody>
                  <a:tcPr marL="54864" marR="54864" marT="36576" marB="36576">
                    <a:solidFill>
                      <a:srgbClr val="E7EFE2"/>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13.1 Unit Testing: Backend (4/4)</a:t>
            </a:r>
          </a:p>
        </p:txBody>
      </p:sp>
      <p:graphicFrame>
        <p:nvGraphicFramePr>
          <p:cNvPr id="3" name="Table 2"/>
          <p:cNvGraphicFramePr>
            <a:graphicFrameLocks noGrp="1"/>
          </p:cNvGraphicFramePr>
          <p:nvPr/>
        </p:nvGraphicFramePr>
        <p:xfrm>
          <a:off x="365760" y="960120"/>
          <a:ext cx="11704320" cy="356616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Module</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13.</a:t>
                      </a:r>
                    </a:p>
                  </a:txBody>
                  <a:tcPr marL="54864" marR="54864" marT="36576" marB="36576">
                    <a:solidFill>
                      <a:srgbClr val="FFFFFF"/>
                    </a:solidFill>
                  </a:tcPr>
                </a:tc>
                <a:tc>
                  <a:txBody>
                    <a:bodyPr wrap="square"/>
                    <a:lstStyle/>
                    <a:p>
                      <a:r>
                        <a:rPr sz="1200" b="0">
                          <a:solidFill>
                            <a:srgbClr val="222222"/>
                          </a:solidFill>
                          <a:latin typeface="Times New Roman"/>
                        </a:rPr>
                        <a:t>NDVI fallback</a:t>
                      </a:r>
                    </a:p>
                  </a:txBody>
                  <a:tcPr marL="54864" marR="54864" marT="36576" marB="36576">
                    <a:solidFill>
                      <a:srgbClr val="FFFFFF"/>
                    </a:solidFill>
                  </a:tcPr>
                </a:tc>
                <a:tc>
                  <a:txBody>
                    <a:bodyPr wrap="square"/>
                    <a:lstStyle/>
                    <a:p>
                      <a:r>
                        <a:rPr sz="1200" b="0">
                          <a:solidFill>
                            <a:srgbClr val="222222"/>
                          </a:solidFill>
                          <a:latin typeface="Times New Roman"/>
                        </a:rPr>
                        <a:t>Break the Earth Engine key, then fetch NDVI for a cached location</a:t>
                      </a:r>
                    </a:p>
                  </a:txBody>
                  <a:tcPr marL="54864" marR="54864" marT="36576" marB="36576">
                    <a:solidFill>
                      <a:srgbClr val="FFFFFF"/>
                    </a:solidFill>
                  </a:tcPr>
                </a:tc>
                <a:tc>
                  <a:txBody>
                    <a:bodyPr wrap="square"/>
                    <a:lstStyle/>
                    <a:p>
                      <a:r>
                        <a:rPr sz="1200" b="0">
                          <a:solidFill>
                            <a:srgbClr val="222222"/>
                          </a:solidFill>
                          <a:latin typeface="Times New Roman"/>
                        </a:rPr>
                        <a:t>Adapter does not crash; it serves the stored (cache) value and reports source cache</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source cache, NDVI 0.2019</a:t>
                      </a:r>
                    </a:p>
                  </a:txBody>
                  <a:tcPr marL="54864" marR="54864" marT="36576" marB="36576">
                    <a:solidFill>
                      <a:srgbClr val="FFFFFF"/>
                    </a:solidFill>
                  </a:tcPr>
                </a:tc>
              </a:tr>
              <a:tr h="1051560">
                <a:tc>
                  <a:txBody>
                    <a:bodyPr wrap="square"/>
                    <a:lstStyle/>
                    <a:p>
                      <a:r>
                        <a:rPr sz="1200" b="0">
                          <a:solidFill>
                            <a:srgbClr val="222222"/>
                          </a:solidFill>
                          <a:latin typeface="Times New Roman"/>
                        </a:rPr>
                        <a:t>14.</a:t>
                      </a:r>
                    </a:p>
                  </a:txBody>
                  <a:tcPr marL="54864" marR="54864" marT="36576" marB="36576">
                    <a:solidFill>
                      <a:srgbClr val="E7EFE2"/>
                    </a:solidFill>
                  </a:tcPr>
                </a:tc>
                <a:tc>
                  <a:txBody>
                    <a:bodyPr wrap="square"/>
                    <a:lstStyle/>
                    <a:p>
                      <a:r>
                        <a:rPr sz="1200" b="0">
                          <a:solidFill>
                            <a:srgbClr val="222222"/>
                          </a:solidFill>
                          <a:latin typeface="Times New Roman"/>
                        </a:rPr>
                        <a:t>Feature builder</a:t>
                      </a:r>
                    </a:p>
                  </a:txBody>
                  <a:tcPr marL="54864" marR="54864" marT="36576" marB="36576">
                    <a:solidFill>
                      <a:srgbClr val="E7EFE2"/>
                    </a:solidFill>
                  </a:tcPr>
                </a:tc>
                <a:tc>
                  <a:txBody>
                    <a:bodyPr wrap="square"/>
                    <a:lstStyle/>
                    <a:p>
                      <a:r>
                        <a:rPr sz="1200" b="0">
                          <a:solidFill>
                            <a:srgbClr val="222222"/>
                          </a:solidFill>
                          <a:latin typeface="Times New Roman"/>
                        </a:rPr>
                        <a:t>Build model features for the Ballari field from stored readings</a:t>
                      </a:r>
                    </a:p>
                  </a:txBody>
                  <a:tcPr marL="54864" marR="54864" marT="36576" marB="36576">
                    <a:solidFill>
                      <a:srgbClr val="E7EFE2"/>
                    </a:solidFill>
                  </a:tcPr>
                </a:tc>
                <a:tc>
                  <a:txBody>
                    <a:bodyPr wrap="square"/>
                    <a:lstStyle/>
                    <a:p>
                      <a:r>
                        <a:rPr sz="1200" b="0">
                          <a:solidFill>
                            <a:srgbClr val="222222"/>
                          </a:solidFill>
                          <a:latin typeface="Times New Roman"/>
                        </a:rPr>
                        <a:t>7/14/30-day weather aggregates, soil values, NDVI and season are filled in</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temp7d 26.9 C, humidity14d 75%, rain30d 16.9 mm, season kharif</a:t>
                      </a:r>
                    </a:p>
                  </a:txBody>
                  <a:tcPr marL="54864" marR="54864" marT="36576" marB="36576">
                    <a:solidFill>
                      <a:srgbClr val="E7EFE2"/>
                    </a:solidFill>
                  </a:tcPr>
                </a:tc>
              </a:tr>
              <a:tr h="1051560">
                <a:tc>
                  <a:txBody>
                    <a:bodyPr wrap="square"/>
                    <a:lstStyle/>
                    <a:p>
                      <a:r>
                        <a:rPr sz="1200" b="0">
                          <a:solidFill>
                            <a:srgbClr val="222222"/>
                          </a:solidFill>
                          <a:latin typeface="Times New Roman"/>
                        </a:rPr>
                        <a:t>15.</a:t>
                      </a:r>
                    </a:p>
                  </a:txBody>
                  <a:tcPr marL="54864" marR="54864" marT="36576" marB="36576">
                    <a:solidFill>
                      <a:srgbClr val="FFFFFF"/>
                    </a:solidFill>
                  </a:tcPr>
                </a:tc>
                <a:tc>
                  <a:txBody>
                    <a:bodyPr wrap="square"/>
                    <a:lstStyle/>
                    <a:p>
                      <a:r>
                        <a:rPr sz="1200" b="0">
                          <a:solidFill>
                            <a:srgbClr val="222222"/>
                          </a:solidFill>
                          <a:latin typeface="Times New Roman"/>
                        </a:rPr>
                        <a:t>Data store ownership</a:t>
                      </a:r>
                    </a:p>
                  </a:txBody>
                  <a:tcPr marL="54864" marR="54864" marT="36576" marB="36576">
                    <a:solidFill>
                      <a:srgbClr val="FFFFFF"/>
                    </a:solidFill>
                  </a:tcPr>
                </a:tc>
                <a:tc>
                  <a:txBody>
                    <a:bodyPr wrap="square"/>
                    <a:lstStyle/>
                    <a:p>
                      <a:r>
                        <a:rPr sz="1200" b="0">
                          <a:solidFill>
                            <a:srgbClr val="222222"/>
                          </a:solidFill>
                          <a:latin typeface="Times New Roman"/>
                        </a:rPr>
                        <a:t>Read a field using a different farmer's id</a:t>
                      </a:r>
                    </a:p>
                  </a:txBody>
                  <a:tcPr marL="54864" marR="54864" marT="36576" marB="36576">
                    <a:solidFill>
                      <a:srgbClr val="FFFFFF"/>
                    </a:solidFill>
                  </a:tcPr>
                </a:tc>
                <a:tc>
                  <a:txBody>
                    <a:bodyPr wrap="square"/>
                    <a:lstStyle/>
                    <a:p>
                      <a:r>
                        <a:rPr sz="1200" b="0">
                          <a:solidFill>
                            <a:srgbClr val="222222"/>
                          </a:solidFill>
                          <a:latin typeface="Times New Roman"/>
                        </a:rPr>
                        <a:t>Nothing returned (a farmer cannot read another farmer's field)</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other farmer -&gt; None, owner -&gt; North Cotton Plot</a:t>
                      </a:r>
                    </a:p>
                  </a:txBody>
                  <a:tcPr marL="54864" marR="54864" marT="36576" marB="36576">
                    <a:solidFill>
                      <a:srgbClr val="FFFFFF"/>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13.2 Integration Testing: Backend (1/2)</a:t>
            </a:r>
          </a:p>
        </p:txBody>
      </p:sp>
      <p:graphicFrame>
        <p:nvGraphicFramePr>
          <p:cNvPr id="3" name="Table 2"/>
          <p:cNvGraphicFramePr>
            <a:graphicFrameLocks noGrp="1"/>
          </p:cNvGraphicFramePr>
          <p:nvPr/>
        </p:nvGraphicFramePr>
        <p:xfrm>
          <a:off x="365760" y="960120"/>
          <a:ext cx="11704320" cy="461772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Integrated Modules</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1.</a:t>
                      </a:r>
                    </a:p>
                  </a:txBody>
                  <a:tcPr marL="54864" marR="54864" marT="36576" marB="36576">
                    <a:solidFill>
                      <a:srgbClr val="FFFFFF"/>
                    </a:solidFill>
                  </a:tcPr>
                </a:tc>
                <a:tc>
                  <a:txBody>
                    <a:bodyPr wrap="square"/>
                    <a:lstStyle/>
                    <a:p>
                      <a:r>
                        <a:rPr sz="1200" b="0">
                          <a:solidFill>
                            <a:srgbClr val="222222"/>
                          </a:solidFill>
                          <a:latin typeface="Times New Roman"/>
                        </a:rPr>
                        <a:t>Field API + live data adapters + data store</a:t>
                      </a:r>
                    </a:p>
                  </a:txBody>
                  <a:tcPr marL="54864" marR="54864" marT="36576" marB="36576">
                    <a:solidFill>
                      <a:srgbClr val="FFFFFF"/>
                    </a:solidFill>
                  </a:tcPr>
                </a:tc>
                <a:tc>
                  <a:txBody>
                    <a:bodyPr wrap="square"/>
                    <a:lstStyle/>
                    <a:p>
                      <a:r>
                        <a:rPr sz="1200" b="0">
                          <a:solidFill>
                            <a:srgbClr val="222222"/>
                          </a:solidFill>
                          <a:latin typeface="Times New Roman"/>
                        </a:rPr>
                        <a:t>POST /fields, then GET /fields/&lt;id&gt;/live-data</a:t>
                      </a:r>
                    </a:p>
                  </a:txBody>
                  <a:tcPr marL="54864" marR="54864" marT="36576" marB="36576">
                    <a:solidFill>
                      <a:srgbClr val="FFFFFF"/>
                    </a:solidFill>
                  </a:tcPr>
                </a:tc>
                <a:tc>
                  <a:txBody>
                    <a:bodyPr wrap="square"/>
                    <a:lstStyle/>
                    <a:p>
                      <a:r>
                        <a:rPr sz="1200" b="0">
                          <a:solidFill>
                            <a:srgbClr val="222222"/>
                          </a:solidFill>
                          <a:latin typeface="Times New Roman"/>
                        </a:rPr>
                        <a:t>HTTP 201 with weather, soil and NDVI all fetched; the readings are then stored and readable</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HTTP 201 in 20s; stored 7 weather rows, 1 soil, 1 NDVI</a:t>
                      </a:r>
                    </a:p>
                  </a:txBody>
                  <a:tcPr marL="54864" marR="54864" marT="36576" marB="36576">
                    <a:solidFill>
                      <a:srgbClr val="FFFFFF"/>
                    </a:solidFill>
                  </a:tcPr>
                </a:tc>
              </a:tr>
              <a:tr h="1051560">
                <a:tc>
                  <a:txBody>
                    <a:bodyPr wrap="square"/>
                    <a:lstStyle/>
                    <a:p>
                      <a:r>
                        <a:rPr sz="1200" b="0">
                          <a:solidFill>
                            <a:srgbClr val="222222"/>
                          </a:solidFill>
                          <a:latin typeface="Times New Roman"/>
                        </a:rPr>
                        <a:t>2.</a:t>
                      </a:r>
                    </a:p>
                  </a:txBody>
                  <a:tcPr marL="54864" marR="54864" marT="36576" marB="36576">
                    <a:solidFill>
                      <a:srgbClr val="E7EFE2"/>
                    </a:solidFill>
                  </a:tcPr>
                </a:tc>
                <a:tc>
                  <a:txBody>
                    <a:bodyPr wrap="square"/>
                    <a:lstStyle/>
                    <a:p>
                      <a:r>
                        <a:rPr sz="1200" b="0">
                          <a:solidFill>
                            <a:srgbClr val="222222"/>
                          </a:solidFill>
                          <a:latin typeface="Times New Roman"/>
                        </a:rPr>
                        <a:t>Live data + feature builder</a:t>
                      </a:r>
                    </a:p>
                  </a:txBody>
                  <a:tcPr marL="54864" marR="54864" marT="36576" marB="36576">
                    <a:solidFill>
                      <a:srgbClr val="E7EFE2"/>
                    </a:solidFill>
                  </a:tcPr>
                </a:tc>
                <a:tc>
                  <a:txBody>
                    <a:bodyPr wrap="square"/>
                    <a:lstStyle/>
                    <a:p>
                      <a:r>
                        <a:rPr sz="1200" b="0">
                          <a:solidFill>
                            <a:srgbClr val="222222"/>
                          </a:solidFill>
                          <a:latin typeface="Times New Roman"/>
                        </a:rPr>
                        <a:t>GET /fields/&lt;new field&gt;/live-data</a:t>
                      </a:r>
                    </a:p>
                  </a:txBody>
                  <a:tcPr marL="54864" marR="54864" marT="36576" marB="36576">
                    <a:solidFill>
                      <a:srgbClr val="E7EFE2"/>
                    </a:solidFill>
                  </a:tcPr>
                </a:tc>
                <a:tc>
                  <a:txBody>
                    <a:bodyPr wrap="square"/>
                    <a:lstStyle/>
                    <a:p>
                      <a:r>
                        <a:rPr sz="1200" b="0">
                          <a:solidFill>
                            <a:srgbClr val="222222"/>
                          </a:solidFill>
                          <a:latin typeface="Times New Roman"/>
                        </a:rPr>
                        <a:t>Model features are computed from the live readings and record where each came from</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temp7d 27.2 C, NDVI source gee_live, weather source open_meteo</a:t>
                      </a:r>
                    </a:p>
                  </a:txBody>
                  <a:tcPr marL="54864" marR="54864" marT="36576" marB="36576">
                    <a:solidFill>
                      <a:srgbClr val="E7EFE2"/>
                    </a:solidFill>
                  </a:tcPr>
                </a:tc>
              </a:tr>
              <a:tr h="1051560">
                <a:tc>
                  <a:txBody>
                    <a:bodyPr wrap="square"/>
                    <a:lstStyle/>
                    <a:p>
                      <a:r>
                        <a:rPr sz="1200" b="0">
                          <a:solidFill>
                            <a:srgbClr val="222222"/>
                          </a:solidFill>
                          <a:latin typeface="Times New Roman"/>
                        </a:rPr>
                        <a:t>3.</a:t>
                      </a:r>
                    </a:p>
                  </a:txBody>
                  <a:tcPr marL="54864" marR="54864" marT="36576" marB="36576">
                    <a:solidFill>
                      <a:srgbClr val="FFFFFF"/>
                    </a:solidFill>
                  </a:tcPr>
                </a:tc>
                <a:tc>
                  <a:txBody>
                    <a:bodyPr wrap="square"/>
                    <a:lstStyle/>
                    <a:p>
                      <a:r>
                        <a:rPr sz="1200" b="0">
                          <a:solidFill>
                            <a:srgbClr val="222222"/>
                          </a:solidFill>
                          <a:latin typeface="Times New Roman"/>
                        </a:rPr>
                        <a:t>API + crop model</a:t>
                      </a:r>
                    </a:p>
                  </a:txBody>
                  <a:tcPr marL="54864" marR="54864" marT="36576" marB="36576">
                    <a:solidFill>
                      <a:srgbClr val="FFFFFF"/>
                    </a:solidFill>
                  </a:tcPr>
                </a:tc>
                <a:tc>
                  <a:txBody>
                    <a:bodyPr wrap="square"/>
                    <a:lstStyle/>
                    <a:p>
                      <a:r>
                        <a:rPr sz="1200" b="0">
                          <a:solidFill>
                            <a:srgbClr val="222222"/>
                          </a:solidFill>
                          <a:latin typeface="Times New Roman"/>
                        </a:rPr>
                        <a:t>GET /fields/&lt;id&gt;/recommendation</a:t>
                      </a:r>
                    </a:p>
                  </a:txBody>
                  <a:tcPr marL="54864" marR="54864" marT="36576" marB="36576">
                    <a:solidFill>
                      <a:srgbClr val="FFFFFF"/>
                    </a:solidFill>
                  </a:tcPr>
                </a:tc>
                <a:tc>
                  <a:txBody>
                    <a:bodyPr wrap="square"/>
                    <a:lstStyle/>
                    <a:p>
                      <a:r>
                        <a:rPr sz="1200" b="0">
                          <a:solidFill>
                            <a:srgbClr val="222222"/>
                          </a:solidFill>
                          <a:latin typeface="Times New Roman"/>
                        </a:rPr>
                        <a:t>HTTP 200 with a recommended crop, confidence and alternatives</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HTTP 200, muskmelon (confidence 0.36), alternatives ['watermelon', 'grapes', 'chickpea']</a:t>
                      </a:r>
                    </a:p>
                  </a:txBody>
                  <a:tcPr marL="54864" marR="54864" marT="36576" marB="36576">
                    <a:solidFill>
                      <a:srgbClr val="FFFFFF"/>
                    </a:solidFill>
                  </a:tcPr>
                </a:tc>
              </a:tr>
              <a:tr h="1051560">
                <a:tc>
                  <a:txBody>
                    <a:bodyPr wrap="square"/>
                    <a:lstStyle/>
                    <a:p>
                      <a:r>
                        <a:rPr sz="1200" b="0">
                          <a:solidFill>
                            <a:srgbClr val="222222"/>
                          </a:solidFill>
                          <a:latin typeface="Times New Roman"/>
                        </a:rPr>
                        <a:t>4.</a:t>
                      </a:r>
                    </a:p>
                  </a:txBody>
                  <a:tcPr marL="54864" marR="54864" marT="36576" marB="36576">
                    <a:solidFill>
                      <a:srgbClr val="E7EFE2"/>
                    </a:solidFill>
                  </a:tcPr>
                </a:tc>
                <a:tc>
                  <a:txBody>
                    <a:bodyPr wrap="square"/>
                    <a:lstStyle/>
                    <a:p>
                      <a:r>
                        <a:rPr sz="1200" b="0">
                          <a:solidFill>
                            <a:srgbClr val="222222"/>
                          </a:solidFill>
                          <a:latin typeface="Times New Roman"/>
                        </a:rPr>
                        <a:t>API + decision engine + explanations</a:t>
                      </a:r>
                    </a:p>
                  </a:txBody>
                  <a:tcPr marL="54864" marR="54864" marT="36576" marB="36576">
                    <a:solidFill>
                      <a:srgbClr val="E7EFE2"/>
                    </a:solidFill>
                  </a:tcPr>
                </a:tc>
                <a:tc>
                  <a:txBody>
                    <a:bodyPr wrap="square"/>
                    <a:lstStyle/>
                    <a:p>
                      <a:r>
                        <a:rPr sz="1200" b="0">
                          <a:solidFill>
                            <a:srgbClr val="222222"/>
                          </a:solidFill>
                          <a:latin typeface="Times New Roman"/>
                        </a:rPr>
                        <a:t>GET /fields/&lt;id&gt;/advisories</a:t>
                      </a:r>
                    </a:p>
                  </a:txBody>
                  <a:tcPr marL="54864" marR="54864" marT="36576" marB="36576">
                    <a:solidFill>
                      <a:srgbClr val="E7EFE2"/>
                    </a:solidFill>
                  </a:tcPr>
                </a:tc>
                <a:tc>
                  <a:txBody>
                    <a:bodyPr wrap="square"/>
                    <a:lstStyle/>
                    <a:p>
                      <a:r>
                        <a:rPr sz="1200" b="0">
                          <a:solidFill>
                            <a:srgbClr val="222222"/>
                          </a:solidFill>
                          <a:latin typeface="Times New Roman"/>
                        </a:rPr>
                        <a:t>HTTP 200; newest advisory has a plain-language explanation and a severity</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HTTP 200, severity moderate, title 'Advisory for muskmelon'</a:t>
                      </a:r>
                    </a:p>
                  </a:txBody>
                  <a:tcPr marL="54864" marR="54864" marT="36576" marB="36576">
                    <a:solidFill>
                      <a:srgbClr val="E7EFE2"/>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13.2 Integration Testing: Backend (2/2)</a:t>
            </a:r>
          </a:p>
        </p:txBody>
      </p:sp>
      <p:graphicFrame>
        <p:nvGraphicFramePr>
          <p:cNvPr id="3" name="Table 2"/>
          <p:cNvGraphicFramePr>
            <a:graphicFrameLocks noGrp="1"/>
          </p:cNvGraphicFramePr>
          <p:nvPr/>
        </p:nvGraphicFramePr>
        <p:xfrm>
          <a:off x="365760" y="960120"/>
          <a:ext cx="11704320" cy="461772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Integrated Modules</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5.</a:t>
                      </a:r>
                    </a:p>
                  </a:txBody>
                  <a:tcPr marL="54864" marR="54864" marT="36576" marB="36576">
                    <a:solidFill>
                      <a:srgbClr val="FFFFFF"/>
                    </a:solidFill>
                  </a:tcPr>
                </a:tc>
                <a:tc>
                  <a:txBody>
                    <a:bodyPr wrap="square"/>
                    <a:lstStyle/>
                    <a:p>
                      <a:r>
                        <a:rPr sz="1200" b="0">
                          <a:solidFill>
                            <a:srgbClr val="222222"/>
                          </a:solidFill>
                          <a:latin typeface="Times New Roman"/>
                        </a:rPr>
                        <a:t>Image upload + CNN + data store</a:t>
                      </a:r>
                    </a:p>
                  </a:txBody>
                  <a:tcPr marL="54864" marR="54864" marT="36576" marB="36576">
                    <a:solidFill>
                      <a:srgbClr val="FFFFFF"/>
                    </a:solidFill>
                  </a:tcPr>
                </a:tc>
                <a:tc>
                  <a:txBody>
                    <a:bodyPr wrap="square"/>
                    <a:lstStyle/>
                    <a:p>
                      <a:r>
                        <a:rPr sz="1200" b="0">
                          <a:solidFill>
                            <a:srgbClr val="222222"/>
                          </a:solidFill>
                          <a:latin typeface="Times New Roman"/>
                        </a:rPr>
                        <a:t>POST a leaf photo, then read the saved alert from the database</a:t>
                      </a:r>
                    </a:p>
                  </a:txBody>
                  <a:tcPr marL="54864" marR="54864" marT="36576" marB="36576">
                    <a:solidFill>
                      <a:srgbClr val="FFFFFF"/>
                    </a:solidFill>
                  </a:tcPr>
                </a:tc>
                <a:tc>
                  <a:txBody>
                    <a:bodyPr wrap="square"/>
                    <a:lstStyle/>
                    <a:p>
                      <a:r>
                        <a:rPr sz="1200" b="0">
                          <a:solidFill>
                            <a:srgbClr val="222222"/>
                          </a:solidFill>
                          <a:latin typeface="Times New Roman"/>
                        </a:rPr>
                        <a:t>HTTP 200 with source cnn, and the same alert id is stored in the database</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HTTP 200, source cnn, stored in database: True</a:t>
                      </a:r>
                    </a:p>
                  </a:txBody>
                  <a:tcPr marL="54864" marR="54864" marT="36576" marB="36576">
                    <a:solidFill>
                      <a:srgbClr val="FFFFFF"/>
                    </a:solidFill>
                  </a:tcPr>
                </a:tc>
              </a:tr>
              <a:tr h="1051560">
                <a:tc>
                  <a:txBody>
                    <a:bodyPr wrap="square"/>
                    <a:lstStyle/>
                    <a:p>
                      <a:r>
                        <a:rPr sz="1200" b="0">
                          <a:solidFill>
                            <a:srgbClr val="222222"/>
                          </a:solidFill>
                          <a:latin typeface="Times New Roman"/>
                        </a:rPr>
                        <a:t>6.</a:t>
                      </a:r>
                    </a:p>
                  </a:txBody>
                  <a:tcPr marL="54864" marR="54864" marT="36576" marB="36576">
                    <a:solidFill>
                      <a:srgbClr val="E7EFE2"/>
                    </a:solidFill>
                  </a:tcPr>
                </a:tc>
                <a:tc>
                  <a:txBody>
                    <a:bodyPr wrap="square"/>
                    <a:lstStyle/>
                    <a:p>
                      <a:r>
                        <a:rPr sz="1200" b="0">
                          <a:solidFill>
                            <a:srgbClr val="222222"/>
                          </a:solidFill>
                          <a:latin typeface="Times New Roman"/>
                        </a:rPr>
                        <a:t>Advisory + feedback</a:t>
                      </a:r>
                    </a:p>
                  </a:txBody>
                  <a:tcPr marL="54864" marR="54864" marT="36576" marB="36576">
                    <a:solidFill>
                      <a:srgbClr val="E7EFE2"/>
                    </a:solidFill>
                  </a:tcPr>
                </a:tc>
                <a:tc>
                  <a:txBody>
                    <a:bodyPr wrap="square"/>
                    <a:lstStyle/>
                    <a:p>
                      <a:r>
                        <a:rPr sz="1200" b="0">
                          <a:solidFill>
                            <a:srgbClr val="222222"/>
                          </a:solidFill>
                          <a:latin typeface="Times New Roman"/>
                        </a:rPr>
                        <a:t>POST /feedback for a real advisory, then GET /feedback</a:t>
                      </a:r>
                    </a:p>
                  </a:txBody>
                  <a:tcPr marL="54864" marR="54864" marT="36576" marB="36576">
                    <a:solidFill>
                      <a:srgbClr val="E7EFE2"/>
                    </a:solidFill>
                  </a:tcPr>
                </a:tc>
                <a:tc>
                  <a:txBody>
                    <a:bodyPr wrap="square"/>
                    <a:lstStyle/>
                    <a:p>
                      <a:r>
                        <a:rPr sz="1200" b="0">
                          <a:solidFill>
                            <a:srgbClr val="222222"/>
                          </a:solidFill>
                          <a:latin typeface="Times New Roman"/>
                        </a:rPr>
                        <a:t>HTTP 201, and the rating appears in the feedback list</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HTTP 201, rating 4, listed: True</a:t>
                      </a:r>
                    </a:p>
                  </a:txBody>
                  <a:tcPr marL="54864" marR="54864" marT="36576" marB="36576">
                    <a:solidFill>
                      <a:srgbClr val="E7EFE2"/>
                    </a:solidFill>
                  </a:tcPr>
                </a:tc>
              </a:tr>
              <a:tr h="1051560">
                <a:tc>
                  <a:txBody>
                    <a:bodyPr wrap="square"/>
                    <a:lstStyle/>
                    <a:p>
                      <a:r>
                        <a:rPr sz="1200" b="0">
                          <a:solidFill>
                            <a:srgbClr val="222222"/>
                          </a:solidFill>
                          <a:latin typeface="Times New Roman"/>
                        </a:rPr>
                        <a:t>7.</a:t>
                      </a:r>
                    </a:p>
                  </a:txBody>
                  <a:tcPr marL="54864" marR="54864" marT="36576" marB="36576">
                    <a:solidFill>
                      <a:srgbClr val="FFFFFF"/>
                    </a:solidFill>
                  </a:tcPr>
                </a:tc>
                <a:tc>
                  <a:txBody>
                    <a:bodyPr wrap="square"/>
                    <a:lstStyle/>
                    <a:p>
                      <a:r>
                        <a:rPr sz="1200" b="0">
                          <a:solidFill>
                            <a:srgbClr val="222222"/>
                          </a:solidFill>
                          <a:latin typeface="Times New Roman"/>
                        </a:rPr>
                        <a:t>Feedback + data store integrity</a:t>
                      </a:r>
                    </a:p>
                  </a:txBody>
                  <a:tcPr marL="54864" marR="54864" marT="36576" marB="36576">
                    <a:solidFill>
                      <a:srgbClr val="FFFFFF"/>
                    </a:solidFill>
                  </a:tcPr>
                </a:tc>
                <a:tc>
                  <a:txBody>
                    <a:bodyPr wrap="square"/>
                    <a:lstStyle/>
                    <a:p>
                      <a:r>
                        <a:rPr sz="1200" b="0">
                          <a:solidFill>
                            <a:srgbClr val="222222"/>
                          </a:solidFill>
                          <a:latin typeface="Times New Roman"/>
                        </a:rPr>
                        <a:t>POST /feedback for an advisory that does not exist</a:t>
                      </a:r>
                    </a:p>
                  </a:txBody>
                  <a:tcPr marL="54864" marR="54864" marT="36576" marB="36576">
                    <a:solidFill>
                      <a:srgbClr val="FFFFFF"/>
                    </a:solidFill>
                  </a:tcPr>
                </a:tc>
                <a:tc>
                  <a:txBody>
                    <a:bodyPr wrap="square"/>
                    <a:lstStyle/>
                    <a:p>
                      <a:r>
                        <a:rPr sz="1200" b="0">
                          <a:solidFill>
                            <a:srgbClr val="222222"/>
                          </a:solidFill>
                          <a:latin typeface="Times New Roman"/>
                        </a:rPr>
                        <a:t>HTTP 404 (feedback cannot point at a missing advisory)</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HTTP 404: Advisory not found</a:t>
                      </a:r>
                    </a:p>
                  </a:txBody>
                  <a:tcPr marL="54864" marR="54864" marT="36576" marB="36576">
                    <a:solidFill>
                      <a:srgbClr val="FFFFFF"/>
                    </a:solidFill>
                  </a:tcPr>
                </a:tc>
              </a:tr>
              <a:tr h="1051560">
                <a:tc>
                  <a:txBody>
                    <a:bodyPr wrap="square"/>
                    <a:lstStyle/>
                    <a:p>
                      <a:r>
                        <a:rPr sz="1200" b="0">
                          <a:solidFill>
                            <a:srgbClr val="222222"/>
                          </a:solidFill>
                          <a:latin typeface="Times New Roman"/>
                        </a:rPr>
                        <a:t>8.</a:t>
                      </a:r>
                    </a:p>
                  </a:txBody>
                  <a:tcPr marL="54864" marR="54864" marT="36576" marB="36576">
                    <a:solidFill>
                      <a:srgbClr val="E7EFE2"/>
                    </a:solidFill>
                  </a:tcPr>
                </a:tc>
                <a:tc>
                  <a:txBody>
                    <a:bodyPr wrap="square"/>
                    <a:lstStyle/>
                    <a:p>
                      <a:r>
                        <a:rPr sz="1200" b="0">
                          <a:solidFill>
                            <a:srgbClr val="222222"/>
                          </a:solidFill>
                          <a:latin typeface="Times New Roman"/>
                        </a:rPr>
                        <a:t>Supabase (read only) + local demo database</a:t>
                      </a:r>
                    </a:p>
                  </a:txBody>
                  <a:tcPr marL="54864" marR="54864" marT="36576" marB="36576">
                    <a:solidFill>
                      <a:srgbClr val="E7EFE2"/>
                    </a:solidFill>
                  </a:tcPr>
                </a:tc>
                <a:tc>
                  <a:txBody>
                    <a:bodyPr wrap="square"/>
                    <a:lstStyle/>
                    <a:p>
                      <a:r>
                        <a:rPr sz="1200" b="0">
                          <a:solidFill>
                            <a:srgbClr val="222222"/>
                          </a:solidFill>
                          <a:latin typeface="Times New Roman"/>
                        </a:rPr>
                        <a:t>Compare Supabase records with their local copy</a:t>
                      </a:r>
                    </a:p>
                  </a:txBody>
                  <a:tcPr marL="54864" marR="54864" marT="36576" marB="36576">
                    <a:solidFill>
                      <a:srgbClr val="E7EFE2"/>
                    </a:solidFill>
                  </a:tcPr>
                </a:tc>
                <a:tc>
                  <a:txBody>
                    <a:bodyPr wrap="square"/>
                    <a:lstStyle/>
                    <a:p>
                      <a:r>
                        <a:rPr sz="1200" b="0">
                          <a:solidFill>
                            <a:srgbClr val="222222"/>
                          </a:solidFill>
                          <a:latin typeface="Times New Roman"/>
                        </a:rPr>
                        <a:t>The farmer and the real field exist in both, with identical names and coordinates</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Supabase field 'North Cotton Plot' (15.14, 76.92) matches the local copy</a:t>
                      </a:r>
                    </a:p>
                  </a:txBody>
                  <a:tcPr marL="54864" marR="54864" marT="36576" marB="36576">
                    <a:solidFill>
                      <a:srgbClr val="E7EFE2"/>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13.3 System Testing: Backend (1/2)</a:t>
            </a:r>
          </a:p>
        </p:txBody>
      </p:sp>
      <p:graphicFrame>
        <p:nvGraphicFramePr>
          <p:cNvPr id="3" name="Table 2"/>
          <p:cNvGraphicFramePr>
            <a:graphicFrameLocks noGrp="1"/>
          </p:cNvGraphicFramePr>
          <p:nvPr/>
        </p:nvGraphicFramePr>
        <p:xfrm>
          <a:off x="365760" y="960120"/>
          <a:ext cx="11704320" cy="461772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System Function</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1.</a:t>
                      </a:r>
                    </a:p>
                  </a:txBody>
                  <a:tcPr marL="54864" marR="54864" marT="36576" marB="36576">
                    <a:solidFill>
                      <a:srgbClr val="FFFFFF"/>
                    </a:solidFill>
                  </a:tcPr>
                </a:tc>
                <a:tc>
                  <a:txBody>
                    <a:bodyPr wrap="square"/>
                    <a:lstStyle/>
                    <a:p>
                      <a:r>
                        <a:rPr sz="1200" b="0">
                          <a:solidFill>
                            <a:srgbClr val="222222"/>
                          </a:solidFill>
                          <a:latin typeface="Times New Roman"/>
                        </a:rPr>
                        <a:t>Complete farmer journey</a:t>
                      </a:r>
                    </a:p>
                  </a:txBody>
                  <a:tcPr marL="54864" marR="54864" marT="36576" marB="36576">
                    <a:solidFill>
                      <a:srgbClr val="FFFFFF"/>
                    </a:solidFill>
                  </a:tcPr>
                </a:tc>
                <a:tc>
                  <a:txBody>
                    <a:bodyPr wrap="square"/>
                    <a:lstStyle/>
                    <a:p>
                      <a:r>
                        <a:rPr sz="1200" b="0">
                          <a:solidFill>
                            <a:srgbClr val="222222"/>
                          </a:solidFill>
                          <a:latin typeface="Times New Roman"/>
                        </a:rPr>
                        <a:t>Add a field, then live data, crop, irrigation, disease, advisory and feedback</a:t>
                      </a:r>
                    </a:p>
                  </a:txBody>
                  <a:tcPr marL="54864" marR="54864" marT="36576" marB="36576">
                    <a:solidFill>
                      <a:srgbClr val="FFFFFF"/>
                    </a:solidFill>
                  </a:tcPr>
                </a:tc>
                <a:tc>
                  <a:txBody>
                    <a:bodyPr wrap="square"/>
                    <a:lstStyle/>
                    <a:p>
                      <a:r>
                        <a:rPr sz="1200" b="0">
                          <a:solidFill>
                            <a:srgbClr val="222222"/>
                          </a:solidFill>
                          <a:latin typeface="Times New Roman"/>
                        </a:rPr>
                        <a:t>Every step succeeds in one run without any manual data entry</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HTTP codes [201, 200, 200, 200, 200, 201], total 34s</a:t>
                      </a:r>
                    </a:p>
                  </a:txBody>
                  <a:tcPr marL="54864" marR="54864" marT="36576" marB="36576">
                    <a:solidFill>
                      <a:srgbClr val="FFFFFF"/>
                    </a:solidFill>
                  </a:tcPr>
                </a:tc>
              </a:tr>
              <a:tr h="1051560">
                <a:tc>
                  <a:txBody>
                    <a:bodyPr wrap="square"/>
                    <a:lstStyle/>
                    <a:p>
                      <a:r>
                        <a:rPr sz="1200" b="0">
                          <a:solidFill>
                            <a:srgbClr val="222222"/>
                          </a:solidFill>
                          <a:latin typeface="Times New Roman"/>
                        </a:rPr>
                        <a:t>2.</a:t>
                      </a:r>
                    </a:p>
                  </a:txBody>
                  <a:tcPr marL="54864" marR="54864" marT="36576" marB="36576">
                    <a:solidFill>
                      <a:srgbClr val="E7EFE2"/>
                    </a:solidFill>
                  </a:tcPr>
                </a:tc>
                <a:tc>
                  <a:txBody>
                    <a:bodyPr wrap="square"/>
                    <a:lstStyle/>
                    <a:p>
                      <a:r>
                        <a:rPr sz="1200" b="0">
                          <a:solidFill>
                            <a:srgbClr val="222222"/>
                          </a:solidFill>
                          <a:latin typeface="Times New Roman"/>
                        </a:rPr>
                        <a:t>Real data safety</a:t>
                      </a:r>
                    </a:p>
                  </a:txBody>
                  <a:tcPr marL="54864" marR="54864" marT="36576" marB="36576">
                    <a:solidFill>
                      <a:srgbClr val="E7EFE2"/>
                    </a:solidFill>
                  </a:tcPr>
                </a:tc>
                <a:tc>
                  <a:txBody>
                    <a:bodyPr wrap="square"/>
                    <a:lstStyle/>
                    <a:p>
                      <a:r>
                        <a:rPr sz="1200" b="0">
                          <a:solidFill>
                            <a:srgbClr val="222222"/>
                          </a:solidFill>
                          <a:latin typeface="Times New Roman"/>
                        </a:rPr>
                        <a:t>Compare the real Supabase record counts before the test run and after it</a:t>
                      </a:r>
                    </a:p>
                  </a:txBody>
                  <a:tcPr marL="54864" marR="54864" marT="36576" marB="36576">
                    <a:solidFill>
                      <a:srgbClr val="E7EFE2"/>
                    </a:solidFill>
                  </a:tcPr>
                </a:tc>
                <a:tc>
                  <a:txBody>
                    <a:bodyPr wrap="square"/>
                    <a:lstStyle/>
                    <a:p>
                      <a:r>
                        <a:rPr sz="1200" b="0">
                          <a:solidFill>
                            <a:srgbClr val="222222"/>
                          </a:solidFill>
                          <a:latin typeface="Times New Roman"/>
                        </a:rPr>
                        <a:t>No count changes: nothing done in the demo can modify the production database</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before {'farmers': 1, 'fields': 1, 'advisories': 16, 'alerts': 1, 'feedback': 0} / after {'farmers': 1, 'fields': 1, 'advisories': 16, 'alerts':...</a:t>
                      </a:r>
                    </a:p>
                  </a:txBody>
                  <a:tcPr marL="54864" marR="54864" marT="36576" marB="36576">
                    <a:solidFill>
                      <a:srgbClr val="E7EFE2"/>
                    </a:solidFill>
                  </a:tcPr>
                </a:tc>
              </a:tr>
              <a:tr h="1051560">
                <a:tc>
                  <a:txBody>
                    <a:bodyPr wrap="square"/>
                    <a:lstStyle/>
                    <a:p>
                      <a:r>
                        <a:rPr sz="1200" b="0">
                          <a:solidFill>
                            <a:srgbClr val="222222"/>
                          </a:solidFill>
                          <a:latin typeface="Times New Roman"/>
                        </a:rPr>
                        <a:t>3.</a:t>
                      </a:r>
                    </a:p>
                  </a:txBody>
                  <a:tcPr marL="54864" marR="54864" marT="36576" marB="36576">
                    <a:solidFill>
                      <a:srgbClr val="FFFFFF"/>
                    </a:solidFill>
                  </a:tcPr>
                </a:tc>
                <a:tc>
                  <a:txBody>
                    <a:bodyPr wrap="square"/>
                    <a:lstStyle/>
                    <a:p>
                      <a:r>
                        <a:rPr sz="1200" b="0">
                          <a:solidFill>
                            <a:srgbClr val="222222"/>
                          </a:solidFill>
                          <a:latin typeface="Times New Roman"/>
                        </a:rPr>
                        <a:t>Live data freshness</a:t>
                      </a:r>
                    </a:p>
                  </a:txBody>
                  <a:tcPr marL="54864" marR="54864" marT="36576" marB="36576">
                    <a:solidFill>
                      <a:srgbClr val="FFFFFF"/>
                    </a:solidFill>
                  </a:tcPr>
                </a:tc>
                <a:tc>
                  <a:txBody>
                    <a:bodyPr wrap="square"/>
                    <a:lstStyle/>
                    <a:p>
                      <a:r>
                        <a:rPr sz="1200" b="0">
                          <a:solidFill>
                            <a:srgbClr val="222222"/>
                          </a:solidFill>
                          <a:latin typeface="Times New Roman"/>
                        </a:rPr>
                        <a:t>Check the age of the newest weather observation stored for the new field</a:t>
                      </a:r>
                    </a:p>
                  </a:txBody>
                  <a:tcPr marL="54864" marR="54864" marT="36576" marB="36576">
                    <a:solidFill>
                      <a:srgbClr val="FFFFFF"/>
                    </a:solidFill>
                  </a:tcPr>
                </a:tc>
                <a:tc>
                  <a:txBody>
                    <a:bodyPr wrap="square"/>
                    <a:lstStyle/>
                    <a:p>
                      <a:r>
                        <a:rPr sz="1200" b="0">
                          <a:solidFill>
                            <a:srgbClr val="222222"/>
                          </a:solidFill>
                          <a:latin typeface="Times New Roman"/>
                        </a:rPr>
                        <a:t>Newest observed (non forecast) weather is not more than 3 days old</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newest observation 2026-09-20T14:30:00Z (0 days old)</a:t>
                      </a:r>
                    </a:p>
                  </a:txBody>
                  <a:tcPr marL="54864" marR="54864" marT="36576" marB="36576">
                    <a:solidFill>
                      <a:srgbClr val="FFFFFF"/>
                    </a:solidFill>
                  </a:tcPr>
                </a:tc>
              </a:tr>
              <a:tr h="1051560">
                <a:tc>
                  <a:txBody>
                    <a:bodyPr wrap="square"/>
                    <a:lstStyle/>
                    <a:p>
                      <a:r>
                        <a:rPr sz="1200" b="0">
                          <a:solidFill>
                            <a:srgbClr val="222222"/>
                          </a:solidFill>
                          <a:latin typeface="Times New Roman"/>
                        </a:rPr>
                        <a:t>4.</a:t>
                      </a:r>
                    </a:p>
                  </a:txBody>
                  <a:tcPr marL="54864" marR="54864" marT="36576" marB="36576">
                    <a:solidFill>
                      <a:srgbClr val="E7EFE2"/>
                    </a:solidFill>
                  </a:tcPr>
                </a:tc>
                <a:tc>
                  <a:txBody>
                    <a:bodyPr wrap="square"/>
                    <a:lstStyle/>
                    <a:p>
                      <a:r>
                        <a:rPr sz="1200" b="0">
                          <a:solidFill>
                            <a:srgbClr val="222222"/>
                          </a:solidFill>
                          <a:latin typeface="Times New Roman"/>
                        </a:rPr>
                        <a:t>Robustness to bad requests</a:t>
                      </a:r>
                    </a:p>
                  </a:txBody>
                  <a:tcPr marL="54864" marR="54864" marT="36576" marB="36576">
                    <a:solidFill>
                      <a:srgbClr val="E7EFE2"/>
                    </a:solidFill>
                  </a:tcPr>
                </a:tc>
                <a:tc>
                  <a:txBody>
                    <a:bodyPr wrap="square"/>
                    <a:lstStyle/>
                    <a:p>
                      <a:r>
                        <a:rPr sz="1200" b="0">
                          <a:solidFill>
                            <a:srgbClr val="222222"/>
                          </a:solidFill>
                          <a:latin typeface="Times New Roman"/>
                        </a:rPr>
                        <a:t>Send malformed JSON, wrong data types, an empty body and a huge value</a:t>
                      </a:r>
                    </a:p>
                  </a:txBody>
                  <a:tcPr marL="54864" marR="54864" marT="36576" marB="36576">
                    <a:solidFill>
                      <a:srgbClr val="E7EFE2"/>
                    </a:solidFill>
                  </a:tcPr>
                </a:tc>
                <a:tc>
                  <a:txBody>
                    <a:bodyPr wrap="square"/>
                    <a:lstStyle/>
                    <a:p>
                      <a:r>
                        <a:rPr sz="1200" b="0">
                          <a:solidFill>
                            <a:srgbClr val="222222"/>
                          </a:solidFill>
                          <a:latin typeface="Times New Roman"/>
                        </a:rPr>
                        <a:t>Every bad request gets a clean HTTP 4xx error, never a 500 crash</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HTTP codes [400, 400, 400, 400, 400, 404]</a:t>
                      </a:r>
                    </a:p>
                  </a:txBody>
                  <a:tcPr marL="54864" marR="54864" marT="36576" marB="36576">
                    <a:solidFill>
                      <a:srgbClr val="E7EFE2"/>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13.3 System Testing: Backend (2/2)</a:t>
            </a:r>
          </a:p>
        </p:txBody>
      </p:sp>
      <p:graphicFrame>
        <p:nvGraphicFramePr>
          <p:cNvPr id="3" name="Table 2"/>
          <p:cNvGraphicFramePr>
            <a:graphicFrameLocks noGrp="1"/>
          </p:cNvGraphicFramePr>
          <p:nvPr/>
        </p:nvGraphicFramePr>
        <p:xfrm>
          <a:off x="365760" y="960120"/>
          <a:ext cx="11704320" cy="251460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System Function</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5.</a:t>
                      </a:r>
                    </a:p>
                  </a:txBody>
                  <a:tcPr marL="54864" marR="54864" marT="36576" marB="36576">
                    <a:solidFill>
                      <a:srgbClr val="FFFFFF"/>
                    </a:solidFill>
                  </a:tcPr>
                </a:tc>
                <a:tc>
                  <a:txBody>
                    <a:bodyPr wrap="square"/>
                    <a:lstStyle/>
                    <a:p>
                      <a:r>
                        <a:rPr sz="1200" b="0">
                          <a:solidFill>
                            <a:srgbClr val="222222"/>
                          </a:solidFill>
                          <a:latin typeface="Times New Roman"/>
                        </a:rPr>
                        <a:t>Response time</a:t>
                      </a:r>
                    </a:p>
                  </a:txBody>
                  <a:tcPr marL="54864" marR="54864" marT="36576" marB="36576">
                    <a:solidFill>
                      <a:srgbClr val="FFFFFF"/>
                    </a:solidFill>
                  </a:tcPr>
                </a:tc>
                <a:tc>
                  <a:txBody>
                    <a:bodyPr wrap="square"/>
                    <a:lstStyle/>
                    <a:p>
                      <a:r>
                        <a:rPr sz="1200" b="0">
                          <a:solidFill>
                            <a:srgbClr val="222222"/>
                          </a:solidFill>
                          <a:latin typeface="Times New Roman"/>
                        </a:rPr>
                        <a:t>Time a simple request and the full advisory request</a:t>
                      </a:r>
                    </a:p>
                  </a:txBody>
                  <a:tcPr marL="54864" marR="54864" marT="36576" marB="36576">
                    <a:solidFill>
                      <a:srgbClr val="FFFFFF"/>
                    </a:solidFill>
                  </a:tcPr>
                </a:tc>
                <a:tc>
                  <a:txBody>
                    <a:bodyPr wrap="square"/>
                    <a:lstStyle/>
                    <a:p>
                      <a:r>
                        <a:rPr sz="1200" b="0">
                          <a:solidFill>
                            <a:srgbClr val="222222"/>
                          </a:solidFill>
                          <a:latin typeface="Times New Roman"/>
                        </a:rPr>
                        <a:t>GET /fields under 1 second, advisory under 15 seconds</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/fields 0.01s, advisory 0.3s</a:t>
                      </a:r>
                    </a:p>
                  </a:txBody>
                  <a:tcPr marL="54864" marR="54864" marT="36576" marB="36576">
                    <a:solidFill>
                      <a:srgbClr val="FFFFFF"/>
                    </a:solidFill>
                  </a:tcPr>
                </a:tc>
              </a:tr>
              <a:tr h="1051560">
                <a:tc>
                  <a:txBody>
                    <a:bodyPr wrap="square"/>
                    <a:lstStyle/>
                    <a:p>
                      <a:r>
                        <a:rPr sz="1200" b="0">
                          <a:solidFill>
                            <a:srgbClr val="222222"/>
                          </a:solidFill>
                          <a:latin typeface="Times New Roman"/>
                        </a:rPr>
                        <a:t>6.</a:t>
                      </a:r>
                    </a:p>
                  </a:txBody>
                  <a:tcPr marL="54864" marR="54864" marT="36576" marB="36576">
                    <a:solidFill>
                      <a:srgbClr val="E7EFE2"/>
                    </a:solidFill>
                  </a:tcPr>
                </a:tc>
                <a:tc>
                  <a:txBody>
                    <a:bodyPr wrap="square"/>
                    <a:lstStyle/>
                    <a:p>
                      <a:r>
                        <a:rPr sz="1200" b="0">
                          <a:solidFill>
                            <a:srgbClr val="222222"/>
                          </a:solidFill>
                          <a:latin typeface="Times New Roman"/>
                        </a:rPr>
                        <a:t>Concurrent users</a:t>
                      </a:r>
                    </a:p>
                  </a:txBody>
                  <a:tcPr marL="54864" marR="54864" marT="36576" marB="36576">
                    <a:solidFill>
                      <a:srgbClr val="E7EFE2"/>
                    </a:solidFill>
                  </a:tcPr>
                </a:tc>
                <a:tc>
                  <a:txBody>
                    <a:bodyPr wrap="square"/>
                    <a:lstStyle/>
                    <a:p>
                      <a:r>
                        <a:rPr sz="1200" b="0">
                          <a:solidFill>
                            <a:srgbClr val="222222"/>
                          </a:solidFill>
                          <a:latin typeface="Times New Roman"/>
                        </a:rPr>
                        <a:t>Send 8 requests at the same moment</a:t>
                      </a:r>
                    </a:p>
                  </a:txBody>
                  <a:tcPr marL="54864" marR="54864" marT="36576" marB="36576">
                    <a:solidFill>
                      <a:srgbClr val="E7EFE2"/>
                    </a:solidFill>
                  </a:tcPr>
                </a:tc>
                <a:tc>
                  <a:txBody>
                    <a:bodyPr wrap="square"/>
                    <a:lstStyle/>
                    <a:p>
                      <a:r>
                        <a:rPr sz="1200" b="0">
                          <a:solidFill>
                            <a:srgbClr val="222222"/>
                          </a:solidFill>
                          <a:latin typeface="Times New Roman"/>
                        </a:rPr>
                        <a:t>All 8 answered HTTP 200</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HTTP codes [200, 200, 200, 200, 200, 200, 200, 200]</a:t>
                      </a:r>
                    </a:p>
                  </a:txBody>
                  <a:tcPr marL="54864" marR="54864" marT="36576" marB="36576">
                    <a:solidFill>
                      <a:srgbClr val="E7EFE2"/>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13.4 Unit Testing: Models (1/4)</a:t>
            </a:r>
          </a:p>
        </p:txBody>
      </p:sp>
      <p:graphicFrame>
        <p:nvGraphicFramePr>
          <p:cNvPr id="3" name="Table 2"/>
          <p:cNvGraphicFramePr>
            <a:graphicFrameLocks noGrp="1"/>
          </p:cNvGraphicFramePr>
          <p:nvPr/>
        </p:nvGraphicFramePr>
        <p:xfrm>
          <a:off x="365760" y="960120"/>
          <a:ext cx="11704320" cy="461772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Module</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1.</a:t>
                      </a:r>
                    </a:p>
                  </a:txBody>
                  <a:tcPr marL="54864" marR="54864" marT="36576" marB="36576">
                    <a:solidFill>
                      <a:srgbClr val="FFFFFF"/>
                    </a:solidFill>
                  </a:tcPr>
                </a:tc>
                <a:tc>
                  <a:txBody>
                    <a:bodyPr wrap="square"/>
                    <a:lstStyle/>
                    <a:p>
                      <a:r>
                        <a:rPr sz="1200" b="0">
                          <a:solidFill>
                            <a:srgbClr val="222222"/>
                          </a:solidFill>
                          <a:latin typeface="Times New Roman"/>
                        </a:rPr>
                        <a:t>Model files</a:t>
                      </a:r>
                    </a:p>
                  </a:txBody>
                  <a:tcPr marL="54864" marR="54864" marT="36576" marB="36576">
                    <a:solidFill>
                      <a:srgbClr val="FFFFFF"/>
                    </a:solidFill>
                  </a:tcPr>
                </a:tc>
                <a:tc>
                  <a:txBody>
                    <a:bodyPr wrap="square"/>
                    <a:lstStyle/>
                    <a:p>
                      <a:r>
                        <a:rPr sz="1200" b="0">
                          <a:solidFill>
                            <a:srgbClr val="222222"/>
                          </a:solidFill>
                          <a:latin typeface="Times New Roman"/>
                        </a:rPr>
                        <a:t>Load the three trained model files</a:t>
                      </a:r>
                    </a:p>
                  </a:txBody>
                  <a:tcPr marL="54864" marR="54864" marT="36576" marB="36576">
                    <a:solidFill>
                      <a:srgbClr val="FFFFFF"/>
                    </a:solidFill>
                  </a:tcPr>
                </a:tc>
                <a:tc>
                  <a:txBody>
                    <a:bodyPr wrap="square"/>
                    <a:lstStyle/>
                    <a:p>
                      <a:r>
                        <a:rPr sz="1200" b="0">
                          <a:solidFill>
                            <a:srgbClr val="222222"/>
                          </a:solidFill>
                          <a:latin typeface="Times New Roman"/>
                        </a:rPr>
                        <a:t>crop_rf.joblib, irrigation_rf.joblib and disease_cnn_mobilenetv2.pt all exist and load</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loaded; sizes in MB {'crop_rf.joblib': 7.3, 'irrigation_rf.joblib': 64.6, 'disease_cnn_mobilenetv2.pt': 9.3}</a:t>
                      </a:r>
                    </a:p>
                  </a:txBody>
                  <a:tcPr marL="54864" marR="54864" marT="36576" marB="36576">
                    <a:solidFill>
                      <a:srgbClr val="FFFFFF"/>
                    </a:solidFill>
                  </a:tcPr>
                </a:tc>
              </a:tr>
              <a:tr h="1051560">
                <a:tc>
                  <a:txBody>
                    <a:bodyPr wrap="square"/>
                    <a:lstStyle/>
                    <a:p>
                      <a:r>
                        <a:rPr sz="1200" b="0">
                          <a:solidFill>
                            <a:srgbClr val="222222"/>
                          </a:solidFill>
                          <a:latin typeface="Times New Roman"/>
                        </a:rPr>
                        <a:t>2.</a:t>
                      </a:r>
                    </a:p>
                  </a:txBody>
                  <a:tcPr marL="54864" marR="54864" marT="36576" marB="36576">
                    <a:solidFill>
                      <a:srgbClr val="E7EFE2"/>
                    </a:solidFill>
                  </a:tcPr>
                </a:tc>
                <a:tc>
                  <a:txBody>
                    <a:bodyPr wrap="square"/>
                    <a:lstStyle/>
                    <a:p>
                      <a:r>
                        <a:rPr sz="1200" b="0">
                          <a:solidFill>
                            <a:srgbClr val="222222"/>
                          </a:solidFill>
                          <a:latin typeface="Times New Roman"/>
                        </a:rPr>
                        <a:t>Crop model: training evaluation</a:t>
                      </a:r>
                    </a:p>
                  </a:txBody>
                  <a:tcPr marL="54864" marR="54864" marT="36576" marB="36576">
                    <a:solidFill>
                      <a:srgbClr val="E7EFE2"/>
                    </a:solidFill>
                  </a:tcPr>
                </a:tc>
                <a:tc>
                  <a:txBody>
                    <a:bodyPr wrap="square"/>
                    <a:lstStyle/>
                    <a:p>
                      <a:r>
                        <a:rPr sz="1200" b="0">
                          <a:solidFill>
                            <a:srgbClr val="222222"/>
                          </a:solidFill>
                          <a:latin typeface="Times New Roman"/>
                        </a:rPr>
                        <a:t>Read the held-out evaluation report of each trained model</a:t>
                      </a:r>
                    </a:p>
                  </a:txBody>
                  <a:tcPr marL="54864" marR="54864" marT="36576" marB="36576">
                    <a:solidFill>
                      <a:srgbClr val="E7EFE2"/>
                    </a:solidFill>
                  </a:tcPr>
                </a:tc>
                <a:tc>
                  <a:txBody>
                    <a:bodyPr wrap="square"/>
                    <a:lstStyle/>
                    <a:p>
                      <a:r>
                        <a:rPr sz="1200" b="0">
                          <a:solidFill>
                            <a:srgbClr val="222222"/>
                          </a:solidFill>
                          <a:latin typeface="Times New Roman"/>
                        </a:rPr>
                        <a:t>Crop accuracy &gt;= 0.99, irrigation &gt;= 0.70, disease CNN &gt;= 0.99 on data not used for training</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crop 0.9955 (macro-F1 0.9955), irrigation 0.7240, disease CNN 0.9924</a:t>
                      </a:r>
                    </a:p>
                  </a:txBody>
                  <a:tcPr marL="54864" marR="54864" marT="36576" marB="36576">
                    <a:solidFill>
                      <a:srgbClr val="E7EFE2"/>
                    </a:solidFill>
                  </a:tcPr>
                </a:tc>
              </a:tr>
              <a:tr h="1051560">
                <a:tc>
                  <a:txBody>
                    <a:bodyPr wrap="square"/>
                    <a:lstStyle/>
                    <a:p>
                      <a:r>
                        <a:rPr sz="1200" b="0">
                          <a:solidFill>
                            <a:srgbClr val="222222"/>
                          </a:solidFill>
                          <a:latin typeface="Times New Roman"/>
                        </a:rPr>
                        <a:t>3.</a:t>
                      </a:r>
                    </a:p>
                  </a:txBody>
                  <a:tcPr marL="54864" marR="54864" marT="36576" marB="36576">
                    <a:solidFill>
                      <a:srgbClr val="FFFFFF"/>
                    </a:solidFill>
                  </a:tcPr>
                </a:tc>
                <a:tc>
                  <a:txBody>
                    <a:bodyPr wrap="square"/>
                    <a:lstStyle/>
                    <a:p>
                      <a:r>
                        <a:rPr sz="1200" b="0">
                          <a:solidFill>
                            <a:srgbClr val="222222"/>
                          </a:solidFill>
                          <a:latin typeface="Times New Roman"/>
                        </a:rPr>
                        <a:t>Crop model: prediction</a:t>
                      </a:r>
                    </a:p>
                  </a:txBody>
                  <a:tcPr marL="54864" marR="54864" marT="36576" marB="36576">
                    <a:solidFill>
                      <a:srgbClr val="FFFFFF"/>
                    </a:solidFill>
                  </a:tcPr>
                </a:tc>
                <a:tc>
                  <a:txBody>
                    <a:bodyPr wrap="square"/>
                    <a:lstStyle/>
                    <a:p>
                      <a:r>
                        <a:rPr sz="1200" b="0">
                          <a:solidFill>
                            <a:srgbClr val="222222"/>
                          </a:solidFill>
                          <a:latin typeface="Times New Roman"/>
                        </a:rPr>
                        <a:t>Predict the crop for 300 rows of the Kaggle dataset</a:t>
                      </a:r>
                    </a:p>
                  </a:txBody>
                  <a:tcPr marL="54864" marR="54864" marT="36576" marB="36576">
                    <a:solidFill>
                      <a:srgbClr val="FFFFFF"/>
                    </a:solidFill>
                  </a:tcPr>
                </a:tc>
                <a:tc>
                  <a:txBody>
                    <a:bodyPr wrap="square"/>
                    <a:lstStyle/>
                    <a:p>
                      <a:r>
                        <a:rPr sz="1200" b="0">
                          <a:solidFill>
                            <a:srgbClr val="222222"/>
                          </a:solidFill>
                          <a:latin typeface="Times New Roman"/>
                        </a:rPr>
                        <a:t>At least 97% predicted correctly; probabilities of the 22 crops add up to 1</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99.7% correct on 300 rows, 22 classes, probabilities sum to 1.000</a:t>
                      </a:r>
                    </a:p>
                  </a:txBody>
                  <a:tcPr marL="54864" marR="54864" marT="36576" marB="36576">
                    <a:solidFill>
                      <a:srgbClr val="FFFFFF"/>
                    </a:solidFill>
                  </a:tcPr>
                </a:tc>
              </a:tr>
              <a:tr h="1051560">
                <a:tc>
                  <a:txBody>
                    <a:bodyPr wrap="square"/>
                    <a:lstStyle/>
                    <a:p>
                      <a:r>
                        <a:rPr sz="1200" b="0">
                          <a:solidFill>
                            <a:srgbClr val="222222"/>
                          </a:solidFill>
                          <a:latin typeface="Times New Roman"/>
                        </a:rPr>
                        <a:t>4.</a:t>
                      </a:r>
                    </a:p>
                  </a:txBody>
                  <a:tcPr marL="54864" marR="54864" marT="36576" marB="36576">
                    <a:solidFill>
                      <a:srgbClr val="E7EFE2"/>
                    </a:solidFill>
                  </a:tcPr>
                </a:tc>
                <a:tc>
                  <a:txBody>
                    <a:bodyPr wrap="square"/>
                    <a:lstStyle/>
                    <a:p>
                      <a:r>
                        <a:rPr sz="1200" b="0">
                          <a:solidFill>
                            <a:srgbClr val="222222"/>
                          </a:solidFill>
                          <a:latin typeface="Times New Roman"/>
                        </a:rPr>
                        <a:t>Crop model: regional check</a:t>
                      </a:r>
                    </a:p>
                  </a:txBody>
                  <a:tcPr marL="54864" marR="54864" marT="36576" marB="36576">
                    <a:solidFill>
                      <a:srgbClr val="E7EFE2"/>
                    </a:solidFill>
                  </a:tcPr>
                </a:tc>
                <a:tc>
                  <a:txBody>
                    <a:bodyPr wrap="square"/>
                    <a:lstStyle/>
                    <a:p>
                      <a:r>
                        <a:rPr sz="1200" b="0">
                          <a:solidFill>
                            <a:srgbClr val="222222"/>
                          </a:solidFill>
                          <a:latin typeface="Times New Roman"/>
                        </a:rPr>
                        <a:t>Check cotton and muskmelon against the Ballari district crop list</a:t>
                      </a:r>
                    </a:p>
                  </a:txBody>
                  <a:tcPr marL="54864" marR="54864" marT="36576" marB="36576">
                    <a:solidFill>
                      <a:srgbClr val="E7EFE2"/>
                    </a:solidFill>
                  </a:tcPr>
                </a:tc>
                <a:tc>
                  <a:txBody>
                    <a:bodyPr wrap="square"/>
                    <a:lstStyle/>
                    <a:p>
                      <a:r>
                        <a:rPr sz="1200" b="0">
                          <a:solidFill>
                            <a:srgbClr val="222222"/>
                          </a:solidFill>
                          <a:latin typeface="Times New Roman"/>
                        </a:rPr>
                        <a:t>Cotton is in the regional list, muskmelon is not (so it would be flagged out_of_region)</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regional crops ['chickpea', 'cotton', 'maize', 'pigeonpeas', 'rice']</a:t>
                      </a:r>
                    </a:p>
                  </a:txBody>
                  <a:tcPr marL="54864" marR="54864" marT="36576" marB="36576">
                    <a:solidFill>
                      <a:srgbClr val="E7EFE2"/>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13.4 Unit Testing: Models (2/4)</a:t>
            </a:r>
          </a:p>
        </p:txBody>
      </p:sp>
      <p:graphicFrame>
        <p:nvGraphicFramePr>
          <p:cNvPr id="3" name="Table 2"/>
          <p:cNvGraphicFramePr>
            <a:graphicFrameLocks noGrp="1"/>
          </p:cNvGraphicFramePr>
          <p:nvPr/>
        </p:nvGraphicFramePr>
        <p:xfrm>
          <a:off x="365760" y="960120"/>
          <a:ext cx="11704320" cy="461772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Module</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5.</a:t>
                      </a:r>
                    </a:p>
                  </a:txBody>
                  <a:tcPr marL="54864" marR="54864" marT="36576" marB="36576">
                    <a:solidFill>
                      <a:srgbClr val="FFFFFF"/>
                    </a:solidFill>
                  </a:tcPr>
                </a:tc>
                <a:tc>
                  <a:txBody>
                    <a:bodyPr wrap="square"/>
                    <a:lstStyle/>
                    <a:p>
                      <a:r>
                        <a:rPr sz="1200" b="0">
                          <a:solidFill>
                            <a:srgbClr val="222222"/>
                          </a:solidFill>
                          <a:latin typeface="Times New Roman"/>
                        </a:rPr>
                        <a:t>Irrigation model: ET0 (FAO-56)</a:t>
                      </a:r>
                    </a:p>
                  </a:txBody>
                  <a:tcPr marL="54864" marR="54864" marT="36576" marB="36576">
                    <a:solidFill>
                      <a:srgbClr val="FFFFFF"/>
                    </a:solidFill>
                  </a:tcPr>
                </a:tc>
                <a:tc>
                  <a:txBody>
                    <a:bodyPr wrap="square"/>
                    <a:lstStyle/>
                    <a:p>
                      <a:r>
                        <a:rPr sz="1200" b="0">
                          <a:solidFill>
                            <a:srgbClr val="222222"/>
                          </a:solidFill>
                          <a:latin typeface="Times New Roman"/>
                        </a:rPr>
                        <a:t>Compute ET0 for 15 N, day 200, mean 27 C, min 22 C, max 33 C and compare with a hand calculation</a:t>
                      </a:r>
                    </a:p>
                  </a:txBody>
                  <a:tcPr marL="54864" marR="54864" marT="36576" marB="36576">
                    <a:solidFill>
                      <a:srgbClr val="FFFFFF"/>
                    </a:solidFill>
                  </a:tcPr>
                </a:tc>
                <a:tc>
                  <a:txBody>
                    <a:bodyPr wrap="square"/>
                    <a:lstStyle/>
                    <a:p>
                      <a:r>
                        <a:rPr sz="1200" b="0">
                          <a:solidFill>
                            <a:srgbClr val="222222"/>
                          </a:solidFill>
                          <a:latin typeface="Times New Roman"/>
                        </a:rPr>
                        <a:t>Matches the hand-calculated FAO-56 Hargreaves value and lies in the normal 2 to 8 mm/day range</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model 5.339 mm/day, hand calculation 5.339 mm/day</a:t>
                      </a:r>
                    </a:p>
                  </a:txBody>
                  <a:tcPr marL="54864" marR="54864" marT="36576" marB="36576">
                    <a:solidFill>
                      <a:srgbClr val="FFFFFF"/>
                    </a:solidFill>
                  </a:tcPr>
                </a:tc>
              </a:tr>
              <a:tr h="1051560">
                <a:tc>
                  <a:txBody>
                    <a:bodyPr wrap="square"/>
                    <a:lstStyle/>
                    <a:p>
                      <a:r>
                        <a:rPr sz="1200" b="0">
                          <a:solidFill>
                            <a:srgbClr val="222222"/>
                          </a:solidFill>
                          <a:latin typeface="Times New Roman"/>
                        </a:rPr>
                        <a:t>6.</a:t>
                      </a:r>
                    </a:p>
                  </a:txBody>
                  <a:tcPr marL="54864" marR="54864" marT="36576" marB="36576">
                    <a:solidFill>
                      <a:srgbClr val="E7EFE2"/>
                    </a:solidFill>
                  </a:tcPr>
                </a:tc>
                <a:tc>
                  <a:txBody>
                    <a:bodyPr wrap="square"/>
                    <a:lstStyle/>
                    <a:p>
                      <a:r>
                        <a:rPr sz="1200" b="0">
                          <a:solidFill>
                            <a:srgbClr val="222222"/>
                          </a:solidFill>
                          <a:latin typeface="Times New Roman"/>
                        </a:rPr>
                        <a:t>Irrigation model: crop coefficient</a:t>
                      </a:r>
                    </a:p>
                  </a:txBody>
                  <a:tcPr marL="54864" marR="54864" marT="36576" marB="36576">
                    <a:solidFill>
                      <a:srgbClr val="E7EFE2"/>
                    </a:solidFill>
                  </a:tcPr>
                </a:tc>
                <a:tc>
                  <a:txBody>
                    <a:bodyPr wrap="square"/>
                    <a:lstStyle/>
                    <a:p>
                      <a:r>
                        <a:rPr sz="1200" b="0">
                          <a:solidFill>
                            <a:srgbClr val="222222"/>
                          </a:solidFill>
                          <a:latin typeface="Times New Roman"/>
                        </a:rPr>
                        <a:t>Growth stage and Kc for cotton at 81 days after sowing and for rice at 10 days</a:t>
                      </a:r>
                    </a:p>
                  </a:txBody>
                  <a:tcPr marL="54864" marR="54864" marT="36576" marB="36576">
                    <a:solidFill>
                      <a:srgbClr val="E7EFE2"/>
                    </a:solidFill>
                  </a:tcPr>
                </a:tc>
                <a:tc>
                  <a:txBody>
                    <a:bodyPr wrap="square"/>
                    <a:lstStyle/>
                    <a:p>
                      <a:r>
                        <a:rPr sz="1200" b="0">
                          <a:solidFill>
                            <a:srgbClr val="222222"/>
                          </a:solidFill>
                          <a:latin typeface="Times New Roman"/>
                        </a:rPr>
                        <a:t>Cotton is in mid-season with Kc above 1.0; rice at 10 days is in the initial stage with a lower Kc</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cotton: mid_season, Kc 1.18; rice: initial, Kc 1.05</a:t>
                      </a:r>
                    </a:p>
                  </a:txBody>
                  <a:tcPr marL="54864" marR="54864" marT="36576" marB="36576">
                    <a:solidFill>
                      <a:srgbClr val="E7EFE2"/>
                    </a:solidFill>
                  </a:tcPr>
                </a:tc>
              </a:tr>
              <a:tr h="1051560">
                <a:tc>
                  <a:txBody>
                    <a:bodyPr wrap="square"/>
                    <a:lstStyle/>
                    <a:p>
                      <a:r>
                        <a:rPr sz="1200" b="0">
                          <a:solidFill>
                            <a:srgbClr val="222222"/>
                          </a:solidFill>
                          <a:latin typeface="Times New Roman"/>
                        </a:rPr>
                        <a:t>7.</a:t>
                      </a:r>
                    </a:p>
                  </a:txBody>
                  <a:tcPr marL="54864" marR="54864" marT="36576" marB="36576">
                    <a:solidFill>
                      <a:srgbClr val="FFFFFF"/>
                    </a:solidFill>
                  </a:tcPr>
                </a:tc>
                <a:tc>
                  <a:txBody>
                    <a:bodyPr wrap="square"/>
                    <a:lstStyle/>
                    <a:p>
                      <a:r>
                        <a:rPr sz="1200" b="0">
                          <a:solidFill>
                            <a:srgbClr val="222222"/>
                          </a:solidFill>
                          <a:latin typeface="Times New Roman"/>
                        </a:rPr>
                        <a:t>Irrigation model: water balance</a:t>
                      </a:r>
                    </a:p>
                  </a:txBody>
                  <a:tcPr marL="54864" marR="54864" marT="36576" marB="36576">
                    <a:solidFill>
                      <a:srgbClr val="FFFFFF"/>
                    </a:solidFill>
                  </a:tcPr>
                </a:tc>
                <a:tc>
                  <a:txBody>
                    <a:bodyPr wrap="square"/>
                    <a:lstStyle/>
                    <a:p>
                      <a:r>
                        <a:rPr sz="1200" b="0">
                          <a:solidFill>
                            <a:srgbClr val="222222"/>
                          </a:solidFill>
                          <a:latin typeface="Times New Roman"/>
                        </a:rPr>
                        <a:t>Same field, once with 0 mm rain and once with 60 mm rain in 7 days</a:t>
                      </a:r>
                    </a:p>
                  </a:txBody>
                  <a:tcPr marL="54864" marR="54864" marT="36576" marB="36576">
                    <a:solidFill>
                      <a:srgbClr val="FFFFFF"/>
                    </a:solidFill>
                  </a:tcPr>
                </a:tc>
                <a:tc>
                  <a:txBody>
                    <a:bodyPr wrap="square"/>
                    <a:lstStyle/>
                    <a:p>
                      <a:r>
                        <a:rPr sz="1200" b="0">
                          <a:solidFill>
                            <a:srgbClr val="222222"/>
                          </a:solidFill>
                          <a:latin typeface="Times New Roman"/>
                        </a:rPr>
                        <a:t>Less water is recommended when more rain has fallen, and never below the 2 mm minimum</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0 mm rain -&gt; 36.6 mm, 60 mm rain -&gt; 2.0 mm</a:t>
                      </a:r>
                    </a:p>
                  </a:txBody>
                  <a:tcPr marL="54864" marR="54864" marT="36576" marB="36576">
                    <a:solidFill>
                      <a:srgbClr val="FFFFFF"/>
                    </a:solidFill>
                  </a:tcPr>
                </a:tc>
              </a:tr>
              <a:tr h="1051560">
                <a:tc>
                  <a:txBody>
                    <a:bodyPr wrap="square"/>
                    <a:lstStyle/>
                    <a:p>
                      <a:r>
                        <a:rPr sz="1200" b="0">
                          <a:solidFill>
                            <a:srgbClr val="222222"/>
                          </a:solidFill>
                          <a:latin typeface="Times New Roman"/>
                        </a:rPr>
                        <a:t>8.</a:t>
                      </a:r>
                    </a:p>
                  </a:txBody>
                  <a:tcPr marL="54864" marR="54864" marT="36576" marB="36576">
                    <a:solidFill>
                      <a:srgbClr val="E7EFE2"/>
                    </a:solidFill>
                  </a:tcPr>
                </a:tc>
                <a:tc>
                  <a:txBody>
                    <a:bodyPr wrap="square"/>
                    <a:lstStyle/>
                    <a:p>
                      <a:r>
                        <a:rPr sz="1200" b="0">
                          <a:solidFill>
                            <a:srgbClr val="222222"/>
                          </a:solidFill>
                          <a:latin typeface="Times New Roman"/>
                        </a:rPr>
                        <a:t>Irrigation model: urgency</a:t>
                      </a:r>
                    </a:p>
                  </a:txBody>
                  <a:tcPr marL="54864" marR="54864" marT="36576" marB="36576">
                    <a:solidFill>
                      <a:srgbClr val="E7EFE2"/>
                    </a:solidFill>
                  </a:tcPr>
                </a:tc>
                <a:tc>
                  <a:txBody>
                    <a:bodyPr wrap="square"/>
                    <a:lstStyle/>
                    <a:p>
                      <a:r>
                        <a:rPr sz="1200" b="0">
                          <a:solidFill>
                            <a:srgbClr val="222222"/>
                          </a:solidFill>
                          <a:latin typeface="Times New Roman"/>
                        </a:rPr>
                        <a:t>Predict irrigation urgency for the live features of all 4 fields</a:t>
                      </a:r>
                    </a:p>
                  </a:txBody>
                  <a:tcPr marL="54864" marR="54864" marT="36576" marB="36576">
                    <a:solidFill>
                      <a:srgbClr val="E7EFE2"/>
                    </a:solidFill>
                  </a:tcPr>
                </a:tc>
                <a:tc>
                  <a:txBody>
                    <a:bodyPr wrap="square"/>
                    <a:lstStyle/>
                    <a:p>
                      <a:r>
                        <a:rPr sz="1200" b="0">
                          <a:solidFill>
                            <a:srgbClr val="222222"/>
                          </a:solidFill>
                          <a:latin typeface="Times New Roman"/>
                        </a:rPr>
                        <a:t>Urgency is one of low, moderate, high for every field</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urgency per field ['moderate', 'moderate', 'moderate', 'moderate']</a:t>
                      </a:r>
                    </a:p>
                  </a:txBody>
                  <a:tcPr marL="54864" marR="54864" marT="36576" marB="36576">
                    <a:solidFill>
                      <a:srgbClr val="E7EFE2"/>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13.4 Unit Testing: Models (3/4)</a:t>
            </a:r>
          </a:p>
        </p:txBody>
      </p:sp>
      <p:graphicFrame>
        <p:nvGraphicFramePr>
          <p:cNvPr id="3" name="Table 2"/>
          <p:cNvGraphicFramePr>
            <a:graphicFrameLocks noGrp="1"/>
          </p:cNvGraphicFramePr>
          <p:nvPr/>
        </p:nvGraphicFramePr>
        <p:xfrm>
          <a:off x="365760" y="960120"/>
          <a:ext cx="11704320" cy="461772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Module</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9.</a:t>
                      </a:r>
                    </a:p>
                  </a:txBody>
                  <a:tcPr marL="54864" marR="54864" marT="36576" marB="36576">
                    <a:solidFill>
                      <a:srgbClr val="FFFFFF"/>
                    </a:solidFill>
                  </a:tcPr>
                </a:tc>
                <a:tc>
                  <a:txBody>
                    <a:bodyPr wrap="square"/>
                    <a:lstStyle/>
                    <a:p>
                      <a:r>
                        <a:rPr sz="1200" b="0">
                          <a:solidFill>
                            <a:srgbClr val="222222"/>
                          </a:solidFill>
                          <a:latin typeface="Times New Roman"/>
                        </a:rPr>
                        <a:t>Disease model (weather based)</a:t>
                      </a:r>
                    </a:p>
                  </a:txBody>
                  <a:tcPr marL="54864" marR="54864" marT="36576" marB="36576">
                    <a:solidFill>
                      <a:srgbClr val="FFFFFF"/>
                    </a:solidFill>
                  </a:tcPr>
                </a:tc>
                <a:tc>
                  <a:txBody>
                    <a:bodyPr wrap="square"/>
                    <a:lstStyle/>
                    <a:p>
                      <a:r>
                        <a:rPr sz="1200" b="0">
                          <a:solidFill>
                            <a:srgbClr val="222222"/>
                          </a:solidFill>
                          <a:latin typeface="Times New Roman"/>
                        </a:rPr>
                        <a:t>Score a hot, humid, rainy scenario and a dry scenario</a:t>
                      </a:r>
                    </a:p>
                  </a:txBody>
                  <a:tcPr marL="54864" marR="54864" marT="36576" marB="36576">
                    <a:solidFill>
                      <a:srgbClr val="FFFFFF"/>
                    </a:solidFill>
                  </a:tcPr>
                </a:tc>
                <a:tc>
                  <a:txBody>
                    <a:bodyPr wrap="square"/>
                    <a:lstStyle/>
                    <a:p>
                      <a:r>
                        <a:rPr sz="1200" b="0">
                          <a:solidFill>
                            <a:srgbClr val="222222"/>
                          </a:solidFill>
                          <a:latin typeface="Times New Roman"/>
                        </a:rPr>
                        <a:t>Wet and humid scenario gives high or severe risk; dry hot scenario gives low risk</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wet/humid -&gt; severe, dry/hot -&gt; low</a:t>
                      </a:r>
                    </a:p>
                  </a:txBody>
                  <a:tcPr marL="54864" marR="54864" marT="36576" marB="36576">
                    <a:solidFill>
                      <a:srgbClr val="FFFFFF"/>
                    </a:solidFill>
                  </a:tcPr>
                </a:tc>
              </a:tr>
              <a:tr h="1051560">
                <a:tc>
                  <a:txBody>
                    <a:bodyPr wrap="square"/>
                    <a:lstStyle/>
                    <a:p>
                      <a:r>
                        <a:rPr sz="1200" b="0">
                          <a:solidFill>
                            <a:srgbClr val="222222"/>
                          </a:solidFill>
                          <a:latin typeface="Times New Roman"/>
                        </a:rPr>
                        <a:t>10.</a:t>
                      </a:r>
                    </a:p>
                  </a:txBody>
                  <a:tcPr marL="54864" marR="54864" marT="36576" marB="36576">
                    <a:solidFill>
                      <a:srgbClr val="E7EFE2"/>
                    </a:solidFill>
                  </a:tcPr>
                </a:tc>
                <a:tc>
                  <a:txBody>
                    <a:bodyPr wrap="square"/>
                    <a:lstStyle/>
                    <a:p>
                      <a:r>
                        <a:rPr sz="1200" b="0">
                          <a:solidFill>
                            <a:srgbClr val="222222"/>
                          </a:solidFill>
                          <a:latin typeface="Times New Roman"/>
                        </a:rPr>
                        <a:t>Disease CNN: classification</a:t>
                      </a:r>
                    </a:p>
                  </a:txBody>
                  <a:tcPr marL="54864" marR="54864" marT="36576" marB="36576">
                    <a:solidFill>
                      <a:srgbClr val="E7EFE2"/>
                    </a:solidFill>
                  </a:tcPr>
                </a:tc>
                <a:tc>
                  <a:txBody>
                    <a:bodyPr wrap="square"/>
                    <a:lstStyle/>
                    <a:p>
                      <a:r>
                        <a:rPr sz="1200" b="0">
                          <a:solidFill>
                            <a:srgbClr val="222222"/>
                          </a:solidFill>
                          <a:latin typeface="Times New Roman"/>
                        </a:rPr>
                        <a:t>Classify 6 leaf photos (3 crops, healthy and diseased)</a:t>
                      </a:r>
                    </a:p>
                  </a:txBody>
                  <a:tcPr marL="54864" marR="54864" marT="36576" marB="36576">
                    <a:solidFill>
                      <a:srgbClr val="E7EFE2"/>
                    </a:solidFill>
                  </a:tcPr>
                </a:tc>
                <a:tc>
                  <a:txBody>
                    <a:bodyPr wrap="square"/>
                    <a:lstStyle/>
                    <a:p>
                      <a:r>
                        <a:rPr sz="1200" b="0">
                          <a:solidFill>
                            <a:srgbClr val="222222"/>
                          </a:solidFill>
                          <a:latin typeface="Times New Roman"/>
                        </a:rPr>
                        <a:t>All 6 photos are classified as their correct disease or healthy class</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6/6 correct</a:t>
                      </a:r>
                    </a:p>
                  </a:txBody>
                  <a:tcPr marL="54864" marR="54864" marT="36576" marB="36576">
                    <a:solidFill>
                      <a:srgbClr val="E7EFE2"/>
                    </a:solidFill>
                  </a:tcPr>
                </a:tc>
              </a:tr>
              <a:tr h="1051560">
                <a:tc>
                  <a:txBody>
                    <a:bodyPr wrap="square"/>
                    <a:lstStyle/>
                    <a:p>
                      <a:r>
                        <a:rPr sz="1200" b="0">
                          <a:solidFill>
                            <a:srgbClr val="222222"/>
                          </a:solidFill>
                          <a:latin typeface="Times New Roman"/>
                        </a:rPr>
                        <a:t>11.</a:t>
                      </a:r>
                    </a:p>
                  </a:txBody>
                  <a:tcPr marL="54864" marR="54864" marT="36576" marB="36576">
                    <a:solidFill>
                      <a:srgbClr val="FFFFFF"/>
                    </a:solidFill>
                  </a:tcPr>
                </a:tc>
                <a:tc>
                  <a:txBody>
                    <a:bodyPr wrap="square"/>
                    <a:lstStyle/>
                    <a:p>
                      <a:r>
                        <a:rPr sz="1200" b="0">
                          <a:solidFill>
                            <a:srgbClr val="222222"/>
                          </a:solidFill>
                          <a:latin typeface="Times New Roman"/>
                        </a:rPr>
                        <a:t>Disease CNN: risk level</a:t>
                      </a:r>
                    </a:p>
                  </a:txBody>
                  <a:tcPr marL="54864" marR="54864" marT="36576" marB="36576">
                    <a:solidFill>
                      <a:srgbClr val="FFFFFF"/>
                    </a:solidFill>
                  </a:tcPr>
                </a:tc>
                <a:tc>
                  <a:txBody>
                    <a:bodyPr wrap="square"/>
                    <a:lstStyle/>
                    <a:p>
                      <a:r>
                        <a:rPr sz="1200" b="0">
                          <a:solidFill>
                            <a:srgbClr val="222222"/>
                          </a:solidFill>
                          <a:latin typeface="Times New Roman"/>
                        </a:rPr>
                        <a:t>Compare the risk level of a healthy leaf and a diseased leaf</a:t>
                      </a:r>
                    </a:p>
                  </a:txBody>
                  <a:tcPr marL="54864" marR="54864" marT="36576" marB="36576">
                    <a:solidFill>
                      <a:srgbClr val="FFFFFF"/>
                    </a:solidFill>
                  </a:tcPr>
                </a:tc>
                <a:tc>
                  <a:txBody>
                    <a:bodyPr wrap="square"/>
                    <a:lstStyle/>
                    <a:p>
                      <a:r>
                        <a:rPr sz="1200" b="0">
                          <a:solidFill>
                            <a:srgbClr val="222222"/>
                          </a:solidFill>
                          <a:latin typeface="Times New Roman"/>
                        </a:rPr>
                        <a:t>Healthy leaf -&gt; low; diseased leaf -&gt; moderate or higher</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healthy apple -&gt; low, tomato late blight -&gt; severe</a:t>
                      </a:r>
                    </a:p>
                  </a:txBody>
                  <a:tcPr marL="54864" marR="54864" marT="36576" marB="36576">
                    <a:solidFill>
                      <a:srgbClr val="FFFFFF"/>
                    </a:solidFill>
                  </a:tcPr>
                </a:tc>
              </a:tr>
              <a:tr h="1051560">
                <a:tc>
                  <a:txBody>
                    <a:bodyPr wrap="square"/>
                    <a:lstStyle/>
                    <a:p>
                      <a:r>
                        <a:rPr sz="1200" b="0">
                          <a:solidFill>
                            <a:srgbClr val="222222"/>
                          </a:solidFill>
                          <a:latin typeface="Times New Roman"/>
                        </a:rPr>
                        <a:t>12.</a:t>
                      </a:r>
                    </a:p>
                  </a:txBody>
                  <a:tcPr marL="54864" marR="54864" marT="36576" marB="36576">
                    <a:solidFill>
                      <a:srgbClr val="E7EFE2"/>
                    </a:solidFill>
                  </a:tcPr>
                </a:tc>
                <a:tc>
                  <a:txBody>
                    <a:bodyPr wrap="square"/>
                    <a:lstStyle/>
                    <a:p>
                      <a:r>
                        <a:rPr sz="1200" b="0">
                          <a:solidFill>
                            <a:srgbClr val="222222"/>
                          </a:solidFill>
                          <a:latin typeface="Times New Roman"/>
                        </a:rPr>
                        <a:t>Disease CNN: output validity</a:t>
                      </a:r>
                    </a:p>
                  </a:txBody>
                  <a:tcPr marL="54864" marR="54864" marT="36576" marB="36576">
                    <a:solidFill>
                      <a:srgbClr val="E7EFE2"/>
                    </a:solidFill>
                  </a:tcPr>
                </a:tc>
                <a:tc>
                  <a:txBody>
                    <a:bodyPr wrap="square"/>
                    <a:lstStyle/>
                    <a:p>
                      <a:r>
                        <a:rPr sz="1200" b="0">
                          <a:solidFill>
                            <a:srgbClr val="222222"/>
                          </a:solidFill>
                          <a:latin typeface="Times New Roman"/>
                        </a:rPr>
                        <a:t>Inspect the top-3 probabilities of a prediction</a:t>
                      </a:r>
                    </a:p>
                  </a:txBody>
                  <a:tcPr marL="54864" marR="54864" marT="36576" marB="36576">
                    <a:solidFill>
                      <a:srgbClr val="E7EFE2"/>
                    </a:solidFill>
                  </a:tcPr>
                </a:tc>
                <a:tc>
                  <a:txBody>
                    <a:bodyPr wrap="square"/>
                    <a:lstStyle/>
                    <a:p>
                      <a:r>
                        <a:rPr sz="1200" b="0">
                          <a:solidFill>
                            <a:srgbClr val="222222"/>
                          </a:solidFill>
                          <a:latin typeface="Times New Roman"/>
                        </a:rPr>
                        <a:t>3 classes, probabilities in 0..1, in descending order, top one equals the reported confidence</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top-3 [('Corn_(maize)___Common_rust_', 1.0), ('Tomato___Late_blight', 0.0), ('Pepper,_bell___Bacterial_spot', 0.0)]</a:t>
                      </a:r>
                    </a:p>
                  </a:txBody>
                  <a:tcPr marL="54864" marR="54864" marT="36576" marB="36576">
                    <a:solidFill>
                      <a:srgbClr val="E7EFE2"/>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13.4 Unit Testing: Models (4/4)</a:t>
            </a:r>
          </a:p>
        </p:txBody>
      </p:sp>
      <p:graphicFrame>
        <p:nvGraphicFramePr>
          <p:cNvPr id="3" name="Table 2"/>
          <p:cNvGraphicFramePr>
            <a:graphicFrameLocks noGrp="1"/>
          </p:cNvGraphicFramePr>
          <p:nvPr/>
        </p:nvGraphicFramePr>
        <p:xfrm>
          <a:off x="365760" y="960120"/>
          <a:ext cx="11704320" cy="146304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Module</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13.</a:t>
                      </a:r>
                    </a:p>
                  </a:txBody>
                  <a:tcPr marL="54864" marR="54864" marT="36576" marB="36576">
                    <a:solidFill>
                      <a:srgbClr val="FFFFFF"/>
                    </a:solidFill>
                  </a:tcPr>
                </a:tc>
                <a:tc>
                  <a:txBody>
                    <a:bodyPr wrap="square"/>
                    <a:lstStyle/>
                    <a:p>
                      <a:r>
                        <a:rPr sz="1200" b="0">
                          <a:solidFill>
                            <a:srgbClr val="222222"/>
                          </a:solidFill>
                          <a:latin typeface="Times New Roman"/>
                        </a:rPr>
                        <a:t>Disease CNN: input handling</a:t>
                      </a:r>
                    </a:p>
                  </a:txBody>
                  <a:tcPr marL="54864" marR="54864" marT="36576" marB="36576">
                    <a:solidFill>
                      <a:srgbClr val="FFFFFF"/>
                    </a:solidFill>
                  </a:tcPr>
                </a:tc>
                <a:tc>
                  <a:txBody>
                    <a:bodyPr wrap="square"/>
                    <a:lstStyle/>
                    <a:p>
                      <a:r>
                        <a:rPr sz="1200" b="0">
                          <a:solidFill>
                            <a:srgbClr val="222222"/>
                          </a:solidFill>
                          <a:latin typeface="Times New Roman"/>
                        </a:rPr>
                        <a:t>Send the same leaf as JPG, as PNG, and as a tiny 32x32 image</a:t>
                      </a:r>
                    </a:p>
                  </a:txBody>
                  <a:tcPr marL="54864" marR="54864" marT="36576" marB="36576">
                    <a:solidFill>
                      <a:srgbClr val="FFFFFF"/>
                    </a:solidFill>
                  </a:tcPr>
                </a:tc>
                <a:tc>
                  <a:txBody>
                    <a:bodyPr wrap="square"/>
                    <a:lstStyle/>
                    <a:p>
                      <a:r>
                        <a:rPr sz="1200" b="0">
                          <a:solidFill>
                            <a:srgbClr val="222222"/>
                          </a:solidFill>
                          <a:latin typeface="Times New Roman"/>
                        </a:rPr>
                        <a:t>JPG and PNG give the same class; the tiny image is handled without error</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JPG Grape___Black_rot, PNG Grape___Black_rot, 32x32 Grape___healthy (0.2621)</a:t>
                      </a:r>
                    </a:p>
                  </a:txBody>
                  <a:tcPr marL="54864" marR="54864" marT="36576" marB="36576">
                    <a:solidFill>
                      <a:srgbClr val="FFFFFF"/>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13.5 Integration Testing: Models (1/2)</a:t>
            </a:r>
          </a:p>
        </p:txBody>
      </p:sp>
      <p:graphicFrame>
        <p:nvGraphicFramePr>
          <p:cNvPr id="3" name="Table 2"/>
          <p:cNvGraphicFramePr>
            <a:graphicFrameLocks noGrp="1"/>
          </p:cNvGraphicFramePr>
          <p:nvPr/>
        </p:nvGraphicFramePr>
        <p:xfrm>
          <a:off x="365760" y="960120"/>
          <a:ext cx="11704320" cy="461772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Integrated Modules</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1.</a:t>
                      </a:r>
                    </a:p>
                  </a:txBody>
                  <a:tcPr marL="54864" marR="54864" marT="36576" marB="36576">
                    <a:solidFill>
                      <a:srgbClr val="FFFFFF"/>
                    </a:solidFill>
                  </a:tcPr>
                </a:tc>
                <a:tc>
                  <a:txBody>
                    <a:bodyPr wrap="square"/>
                    <a:lstStyle/>
                    <a:p>
                      <a:r>
                        <a:rPr sz="1200" b="0">
                          <a:solidFill>
                            <a:srgbClr val="222222"/>
                          </a:solidFill>
                          <a:latin typeface="Times New Roman"/>
                        </a:rPr>
                        <a:t>Live features + crop model</a:t>
                      </a:r>
                    </a:p>
                  </a:txBody>
                  <a:tcPr marL="54864" marR="54864" marT="36576" marB="36576">
                    <a:solidFill>
                      <a:srgbClr val="FFFFFF"/>
                    </a:solidFill>
                  </a:tcPr>
                </a:tc>
                <a:tc>
                  <a:txBody>
                    <a:bodyPr wrap="square"/>
                    <a:lstStyle/>
                    <a:p>
                      <a:r>
                        <a:rPr sz="1200" b="0">
                          <a:solidFill>
                            <a:srgbClr val="222222"/>
                          </a:solidFill>
                          <a:latin typeface="Times New Roman"/>
                        </a:rPr>
                        <a:t>Get the crop recommendation for all 4 fields through the API</a:t>
                      </a:r>
                    </a:p>
                  </a:txBody>
                  <a:tcPr marL="54864" marR="54864" marT="36576" marB="36576">
                    <a:solidFill>
                      <a:srgbClr val="FFFFFF"/>
                    </a:solidFill>
                  </a:tcPr>
                </a:tc>
                <a:tc>
                  <a:txBody>
                    <a:bodyPr wrap="square"/>
                    <a:lstStyle/>
                    <a:p>
                      <a:r>
                        <a:rPr sz="1200" b="0">
                          <a:solidFill>
                            <a:srgbClr val="222222"/>
                          </a:solidFill>
                          <a:latin typeface="Times New Roman"/>
                        </a:rPr>
                        <a:t>HTTP 200 for every field, each crop is one of the 22 known crops</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[(200, 'muskmelon'), (200, 'muskmelon'), (200, 'muskmelon'), (200, 'watermelon')]</a:t>
                      </a:r>
                    </a:p>
                  </a:txBody>
                  <a:tcPr marL="54864" marR="54864" marT="36576" marB="36576">
                    <a:solidFill>
                      <a:srgbClr val="FFFFFF"/>
                    </a:solidFill>
                  </a:tcPr>
                </a:tc>
              </a:tr>
              <a:tr h="1051560">
                <a:tc>
                  <a:txBody>
                    <a:bodyPr wrap="square"/>
                    <a:lstStyle/>
                    <a:p>
                      <a:r>
                        <a:rPr sz="1200" b="0">
                          <a:solidFill>
                            <a:srgbClr val="222222"/>
                          </a:solidFill>
                          <a:latin typeface="Times New Roman"/>
                        </a:rPr>
                        <a:t>2.</a:t>
                      </a:r>
                    </a:p>
                  </a:txBody>
                  <a:tcPr marL="54864" marR="54864" marT="36576" marB="36576">
                    <a:solidFill>
                      <a:srgbClr val="E7EFE2"/>
                    </a:solidFill>
                  </a:tcPr>
                </a:tc>
                <a:tc>
                  <a:txBody>
                    <a:bodyPr wrap="square"/>
                    <a:lstStyle/>
                    <a:p>
                      <a:r>
                        <a:rPr sz="1200" b="0">
                          <a:solidFill>
                            <a:srgbClr val="222222"/>
                          </a:solidFill>
                          <a:latin typeface="Times New Roman"/>
                        </a:rPr>
                        <a:t>Live features + FAO-56 + irrigation model</a:t>
                      </a:r>
                    </a:p>
                  </a:txBody>
                  <a:tcPr marL="54864" marR="54864" marT="36576" marB="36576">
                    <a:solidFill>
                      <a:srgbClr val="E7EFE2"/>
                    </a:solidFill>
                  </a:tcPr>
                </a:tc>
                <a:tc>
                  <a:txBody>
                    <a:bodyPr wrap="square"/>
                    <a:lstStyle/>
                    <a:p>
                      <a:r>
                        <a:rPr sz="1200" b="0">
                          <a:solidFill>
                            <a:srgbClr val="222222"/>
                          </a:solidFill>
                          <a:latin typeface="Times New Roman"/>
                        </a:rPr>
                        <a:t>Get irrigation advice for all 4 fields through the API</a:t>
                      </a:r>
                    </a:p>
                  </a:txBody>
                  <a:tcPr marL="54864" marR="54864" marT="36576" marB="36576">
                    <a:solidFill>
                      <a:srgbClr val="E7EFE2"/>
                    </a:solidFill>
                  </a:tcPr>
                </a:tc>
                <a:tc>
                  <a:txBody>
                    <a:bodyPr wrap="square"/>
                    <a:lstStyle/>
                    <a:p>
                      <a:r>
                        <a:rPr sz="1200" b="0">
                          <a:solidFill>
                            <a:srgbClr val="222222"/>
                          </a:solidFill>
                          <a:latin typeface="Times New Roman"/>
                        </a:rPr>
                        <a:t>Depth is at least 2 mm and the rationale shows the ET0, ETc and rainfall numbers used</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(depth mm, urgency, rationale ok) per field [(19.7, 'moderate', True), (32.7, 'moderate', True), (34.5, 'moderate', True), (39.3, 'moderate', True)]</a:t>
                      </a:r>
                    </a:p>
                  </a:txBody>
                  <a:tcPr marL="54864" marR="54864" marT="36576" marB="36576">
                    <a:solidFill>
                      <a:srgbClr val="E7EFE2"/>
                    </a:solidFill>
                  </a:tcPr>
                </a:tc>
              </a:tr>
              <a:tr h="1051560">
                <a:tc>
                  <a:txBody>
                    <a:bodyPr wrap="square"/>
                    <a:lstStyle/>
                    <a:p>
                      <a:r>
                        <a:rPr sz="1200" b="0">
                          <a:solidFill>
                            <a:srgbClr val="222222"/>
                          </a:solidFill>
                          <a:latin typeface="Times New Roman"/>
                        </a:rPr>
                        <a:t>3.</a:t>
                      </a:r>
                    </a:p>
                  </a:txBody>
                  <a:tcPr marL="54864" marR="54864" marT="36576" marB="36576">
                    <a:solidFill>
                      <a:srgbClr val="FFFFFF"/>
                    </a:solidFill>
                  </a:tcPr>
                </a:tc>
                <a:tc>
                  <a:txBody>
                    <a:bodyPr wrap="square"/>
                    <a:lstStyle/>
                    <a:p>
                      <a:r>
                        <a:rPr sz="1200" b="0">
                          <a:solidFill>
                            <a:srgbClr val="222222"/>
                          </a:solidFill>
                          <a:latin typeface="Times New Roman"/>
                        </a:rPr>
                        <a:t>Weather features + disease model</a:t>
                      </a:r>
                    </a:p>
                  </a:txBody>
                  <a:tcPr marL="54864" marR="54864" marT="36576" marB="36576">
                    <a:solidFill>
                      <a:srgbClr val="FFFFFF"/>
                    </a:solidFill>
                  </a:tcPr>
                </a:tc>
                <a:tc>
                  <a:txBody>
                    <a:bodyPr wrap="square"/>
                    <a:lstStyle/>
                    <a:p>
                      <a:r>
                        <a:rPr sz="1200" b="0">
                          <a:solidFill>
                            <a:srgbClr val="222222"/>
                          </a:solidFill>
                          <a:latin typeface="Times New Roman"/>
                        </a:rPr>
                        <a:t>GET /fields/&lt;id&gt;/disease-risk for the real field</a:t>
                      </a:r>
                    </a:p>
                  </a:txBody>
                  <a:tcPr marL="54864" marR="54864" marT="36576" marB="36576">
                    <a:solidFill>
                      <a:srgbClr val="FFFFFF"/>
                    </a:solidFill>
                  </a:tcPr>
                </a:tc>
                <a:tc>
                  <a:txBody>
                    <a:bodyPr wrap="square"/>
                    <a:lstStyle/>
                    <a:p>
                      <a:r>
                        <a:rPr sz="1200" b="0">
                          <a:solidFill>
                            <a:srgbClr val="222222"/>
                          </a:solidFill>
                          <a:latin typeface="Times New Roman"/>
                        </a:rPr>
                        <a:t>A complete alert with a risk level, action and 7-day window, source environmental</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risk moderate, source environmental, action 'Increase field scouting frequency; watch for ...'</a:t>
                      </a:r>
                    </a:p>
                  </a:txBody>
                  <a:tcPr marL="54864" marR="54864" marT="36576" marB="36576">
                    <a:solidFill>
                      <a:srgbClr val="FFFFFF"/>
                    </a:solidFill>
                  </a:tcPr>
                </a:tc>
              </a:tr>
              <a:tr h="1051560">
                <a:tc>
                  <a:txBody>
                    <a:bodyPr wrap="square"/>
                    <a:lstStyle/>
                    <a:p>
                      <a:r>
                        <a:rPr sz="1200" b="0">
                          <a:solidFill>
                            <a:srgbClr val="222222"/>
                          </a:solidFill>
                          <a:latin typeface="Times New Roman"/>
                        </a:rPr>
                        <a:t>4.</a:t>
                      </a:r>
                    </a:p>
                  </a:txBody>
                  <a:tcPr marL="54864" marR="54864" marT="36576" marB="36576">
                    <a:solidFill>
                      <a:srgbClr val="E7EFE2"/>
                    </a:solidFill>
                  </a:tcPr>
                </a:tc>
                <a:tc>
                  <a:txBody>
                    <a:bodyPr wrap="square"/>
                    <a:lstStyle/>
                    <a:p>
                      <a:r>
                        <a:rPr sz="1200" b="0">
                          <a:solidFill>
                            <a:srgbClr val="222222"/>
                          </a:solidFill>
                          <a:latin typeface="Times New Roman"/>
                        </a:rPr>
                        <a:t>Decision engine (three models combined)</a:t>
                      </a:r>
                    </a:p>
                  </a:txBody>
                  <a:tcPr marL="54864" marR="54864" marT="36576" marB="36576">
                    <a:solidFill>
                      <a:srgbClr val="E7EFE2"/>
                    </a:solidFill>
                  </a:tcPr>
                </a:tc>
                <a:tc>
                  <a:txBody>
                    <a:bodyPr wrap="square"/>
                    <a:lstStyle/>
                    <a:p>
                      <a:r>
                        <a:rPr sz="1200" b="0">
                          <a:solidFill>
                            <a:srgbClr val="222222"/>
                          </a:solidFill>
                          <a:latin typeface="Times New Roman"/>
                        </a:rPr>
                        <a:t>Read irrigation urgency, disease risk and the advisory severity for one field</a:t>
                      </a:r>
                    </a:p>
                  </a:txBody>
                  <a:tcPr marL="54864" marR="54864" marT="36576" marB="36576">
                    <a:solidFill>
                      <a:srgbClr val="E7EFE2"/>
                    </a:solidFill>
                  </a:tcPr>
                </a:tc>
                <a:tc>
                  <a:txBody>
                    <a:bodyPr wrap="square"/>
                    <a:lstStyle/>
                    <a:p>
                      <a:r>
                        <a:rPr sz="1200" b="0">
                          <a:solidFill>
                            <a:srgbClr val="222222"/>
                          </a:solidFill>
                          <a:latin typeface="Times New Roman"/>
                        </a:rPr>
                        <a:t>Advisory severity equals the higher of the irrigation urgency and the disease risk level</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irrigation moderate, disease moderate -&gt; expected moderate, advisory moderate</a:t>
                      </a:r>
                    </a:p>
                  </a:txBody>
                  <a:tcPr marL="54864" marR="54864" marT="36576" marB="36576">
                    <a:solidFill>
                      <a:srgbClr val="E7EFE2"/>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13.5 Integration Testing: Models (2/2)</a:t>
            </a:r>
          </a:p>
        </p:txBody>
      </p:sp>
      <p:graphicFrame>
        <p:nvGraphicFramePr>
          <p:cNvPr id="3" name="Table 2"/>
          <p:cNvGraphicFramePr>
            <a:graphicFrameLocks noGrp="1"/>
          </p:cNvGraphicFramePr>
          <p:nvPr/>
        </p:nvGraphicFramePr>
        <p:xfrm>
          <a:off x="365760" y="960120"/>
          <a:ext cx="11704320" cy="356616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Integrated Modules</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5.</a:t>
                      </a:r>
                    </a:p>
                  </a:txBody>
                  <a:tcPr marL="54864" marR="54864" marT="36576" marB="36576">
                    <a:solidFill>
                      <a:srgbClr val="FFFFFF"/>
                    </a:solidFill>
                  </a:tcPr>
                </a:tc>
                <a:tc>
                  <a:txBody>
                    <a:bodyPr wrap="square"/>
                    <a:lstStyle/>
                    <a:p>
                      <a:r>
                        <a:rPr sz="1200" b="0">
                          <a:solidFill>
                            <a:srgbClr val="222222"/>
                          </a:solidFill>
                          <a:latin typeface="Times New Roman"/>
                        </a:rPr>
                        <a:t>SHAP explanations + decision engine</a:t>
                      </a:r>
                    </a:p>
                  </a:txBody>
                  <a:tcPr marL="54864" marR="54864" marT="36576" marB="36576">
                    <a:solidFill>
                      <a:srgbClr val="FFFFFF"/>
                    </a:solidFill>
                  </a:tcPr>
                </a:tc>
                <a:tc>
                  <a:txBody>
                    <a:bodyPr wrap="square"/>
                    <a:lstStyle/>
                    <a:p>
                      <a:r>
                        <a:rPr sz="1200" b="0">
                          <a:solidFill>
                            <a:srgbClr val="222222"/>
                          </a:solidFill>
                          <a:latin typeface="Times New Roman"/>
                        </a:rPr>
                        <a:t>Read the text of the newest advisory</a:t>
                      </a:r>
                    </a:p>
                  </a:txBody>
                  <a:tcPr marL="54864" marR="54864" marT="36576" marB="36576">
                    <a:solidFill>
                      <a:srgbClr val="FFFFFF"/>
                    </a:solidFill>
                  </a:tcPr>
                </a:tc>
                <a:tc>
                  <a:txBody>
                    <a:bodyPr wrap="square"/>
                    <a:lstStyle/>
                    <a:p>
                      <a:r>
                        <a:rPr sz="1200" b="0">
                          <a:solidFill>
                            <a:srgbClr val="222222"/>
                          </a:solidFill>
                          <a:latin typeface="Times New Roman"/>
                        </a:rPr>
                        <a:t>It names the biggest factors behind the recommendation and adds the regional caution when the crop is out of region</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The biggest factors behind this recommendation of muskmelon were: rainfall (16.90, increases the result); N (250.00, increases the result); P...</a:t>
                      </a:r>
                    </a:p>
                  </a:txBody>
                  <a:tcPr marL="54864" marR="54864" marT="36576" marB="36576">
                    <a:solidFill>
                      <a:srgbClr val="FFFFFF"/>
                    </a:solidFill>
                  </a:tcPr>
                </a:tc>
              </a:tr>
              <a:tr h="1051560">
                <a:tc>
                  <a:txBody>
                    <a:bodyPr wrap="square"/>
                    <a:lstStyle/>
                    <a:p>
                      <a:r>
                        <a:rPr sz="1200" b="0">
                          <a:solidFill>
                            <a:srgbClr val="222222"/>
                          </a:solidFill>
                          <a:latin typeface="Times New Roman"/>
                        </a:rPr>
                        <a:t>6.</a:t>
                      </a:r>
                    </a:p>
                  </a:txBody>
                  <a:tcPr marL="54864" marR="54864" marT="36576" marB="36576">
                    <a:solidFill>
                      <a:srgbClr val="E7EFE2"/>
                    </a:solidFill>
                  </a:tcPr>
                </a:tc>
                <a:tc>
                  <a:txBody>
                    <a:bodyPr wrap="square"/>
                    <a:lstStyle/>
                    <a:p>
                      <a:r>
                        <a:rPr sz="1200" b="0">
                          <a:solidFill>
                            <a:srgbClr val="222222"/>
                          </a:solidFill>
                          <a:latin typeface="Times New Roman"/>
                        </a:rPr>
                        <a:t>Disease CNN + alert record</a:t>
                      </a:r>
                    </a:p>
                  </a:txBody>
                  <a:tcPr marL="54864" marR="54864" marT="36576" marB="36576">
                    <a:solidFill>
                      <a:srgbClr val="E7EFE2"/>
                    </a:solidFill>
                  </a:tcPr>
                </a:tc>
                <a:tc>
                  <a:txBody>
                    <a:bodyPr wrap="square"/>
                    <a:lstStyle/>
                    <a:p>
                      <a:r>
                        <a:rPr sz="1200" b="0">
                          <a:solidFill>
                            <a:srgbClr val="222222"/>
                          </a:solidFill>
                          <a:latin typeface="Times New Roman"/>
                        </a:rPr>
                        <a:t>POST a leaf photo and check the fields of the saved alert</a:t>
                      </a:r>
                    </a:p>
                  </a:txBody>
                  <a:tcPr marL="54864" marR="54864" marT="36576" marB="36576">
                    <a:solidFill>
                      <a:srgbClr val="E7EFE2"/>
                    </a:solidFill>
                  </a:tcPr>
                </a:tc>
                <a:tc>
                  <a:txBody>
                    <a:bodyPr wrap="square"/>
                    <a:lstStyle/>
                    <a:p>
                      <a:r>
                        <a:rPr sz="1200" b="0">
                          <a:solidFill>
                            <a:srgbClr val="222222"/>
                          </a:solidFill>
                          <a:latin typeface="Times New Roman"/>
                        </a:rPr>
                        <a:t>Alert has id, disease name, risk level, confidence, action and time window</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disease 'Grape: Black rot', risk severe, confidence 1.000</a:t>
                      </a:r>
                    </a:p>
                  </a:txBody>
                  <a:tcPr marL="54864" marR="54864" marT="36576" marB="36576">
                    <a:solidFill>
                      <a:srgbClr val="E7EFE2"/>
                    </a:solidFill>
                  </a:tcPr>
                </a:tc>
              </a:tr>
              <a:tr h="1051560">
                <a:tc>
                  <a:txBody>
                    <a:bodyPr wrap="square"/>
                    <a:lstStyle/>
                    <a:p>
                      <a:r>
                        <a:rPr sz="1200" b="0">
                          <a:solidFill>
                            <a:srgbClr val="222222"/>
                          </a:solidFill>
                          <a:latin typeface="Times New Roman"/>
                        </a:rPr>
                        <a:t>7.</a:t>
                      </a:r>
                    </a:p>
                  </a:txBody>
                  <a:tcPr marL="54864" marR="54864" marT="36576" marB="36576">
                    <a:solidFill>
                      <a:srgbClr val="FFFFFF"/>
                    </a:solidFill>
                  </a:tcPr>
                </a:tc>
                <a:tc>
                  <a:txBody>
                    <a:bodyPr wrap="square"/>
                    <a:lstStyle/>
                    <a:p>
                      <a:r>
                        <a:rPr sz="1200" b="0">
                          <a:solidFill>
                            <a:srgbClr val="222222"/>
                          </a:solidFill>
                          <a:latin typeface="Times New Roman"/>
                        </a:rPr>
                        <a:t>Models use each field's own data</a:t>
                      </a:r>
                    </a:p>
                  </a:txBody>
                  <a:tcPr marL="54864" marR="54864" marT="36576" marB="36576">
                    <a:solidFill>
                      <a:srgbClr val="FFFFFF"/>
                    </a:solidFill>
                  </a:tcPr>
                </a:tc>
                <a:tc>
                  <a:txBody>
                    <a:bodyPr wrap="square"/>
                    <a:lstStyle/>
                    <a:p>
                      <a:r>
                        <a:rPr sz="1200" b="0">
                          <a:solidFill>
                            <a:srgbClr val="222222"/>
                          </a:solidFill>
                          <a:latin typeface="Times New Roman"/>
                        </a:rPr>
                        <a:t>Compare irrigation depth across the 4 fields</a:t>
                      </a:r>
                    </a:p>
                  </a:txBody>
                  <a:tcPr marL="54864" marR="54864" marT="36576" marB="36576">
                    <a:solidFill>
                      <a:srgbClr val="FFFFFF"/>
                    </a:solidFill>
                  </a:tcPr>
                </a:tc>
                <a:tc>
                  <a:txBody>
                    <a:bodyPr wrap="square"/>
                    <a:lstStyle/>
                    <a:p>
                      <a:r>
                        <a:rPr sz="1200" b="0">
                          <a:solidFill>
                            <a:srgbClr val="222222"/>
                          </a:solidFill>
                          <a:latin typeface="Times New Roman"/>
                        </a:rPr>
                        <a:t>The fields do not all get the same answer, so the models react to the live data of each location</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irrigation depth (mm) per field [19.7, 32.7, 34.5, 39.3]</a:t>
                      </a:r>
                    </a:p>
                  </a:txBody>
                  <a:tcPr marL="54864" marR="54864" marT="36576" marB="36576">
                    <a:solidFill>
                      <a:srgbClr val="FFFFFF"/>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r>
              <a:rPr sz="2600" b="1">
                <a:solidFill>
                  <a:srgbClr val="3F6B3A"/>
                </a:solidFill>
                <a:latin typeface="Times New Roman"/>
              </a:rPr>
              <a:t>13.6 System Testing: Models</a:t>
            </a:r>
          </a:p>
        </p:txBody>
      </p:sp>
      <p:graphicFrame>
        <p:nvGraphicFramePr>
          <p:cNvPr id="3" name="Table 2"/>
          <p:cNvGraphicFramePr>
            <a:graphicFrameLocks noGrp="1"/>
          </p:cNvGraphicFramePr>
          <p:nvPr/>
        </p:nvGraphicFramePr>
        <p:xfrm>
          <a:off x="365760" y="960120"/>
          <a:ext cx="11704320" cy="4617720"/>
        </p:xfrm>
        <a:graphic>
          <a:graphicData uri="http://schemas.openxmlformats.org/drawingml/2006/table">
            <a:tbl>
              <a:tblPr firstRow="1" bandRow="1">
                <a:tableStyleId>{5C22544A-7EE6-4342-B048-85BDC9FD1C3A}</a:tableStyleId>
              </a:tblPr>
              <a:tblGrid>
                <a:gridCol w="548640"/>
                <a:gridCol w="1828800"/>
                <a:gridCol w="2651760"/>
                <a:gridCol w="2743200"/>
                <a:gridCol w="1005840"/>
                <a:gridCol w="2926080"/>
              </a:tblGrid>
              <a:tr h="411480">
                <a:tc>
                  <a:txBody>
                    <a:bodyPr wrap="square"/>
                    <a:lstStyle/>
                    <a:p>
                      <a:r>
                        <a:rPr sz="1300" b="1">
                          <a:solidFill>
                            <a:srgbClr val="FFFFFF"/>
                          </a:solidFill>
                          <a:latin typeface="Times New Roman"/>
                        </a:rPr>
                        <a:t>Slno</a:t>
                      </a:r>
                    </a:p>
                  </a:txBody>
                  <a:tcPr marL="54864" marR="54864" marT="36576" marB="36576">
                    <a:solidFill>
                      <a:srgbClr val="3F6B3A"/>
                    </a:solidFill>
                  </a:tcPr>
                </a:tc>
                <a:tc>
                  <a:txBody>
                    <a:bodyPr wrap="square"/>
                    <a:lstStyle/>
                    <a:p>
                      <a:r>
                        <a:rPr sz="1300" b="1">
                          <a:solidFill>
                            <a:srgbClr val="FFFFFF"/>
                          </a:solidFill>
                          <a:latin typeface="Times New Roman"/>
                        </a:rPr>
                        <a:t>System Function</a:t>
                      </a:r>
                    </a:p>
                  </a:txBody>
                  <a:tcPr marL="54864" marR="54864" marT="36576" marB="36576">
                    <a:solidFill>
                      <a:srgbClr val="3F6B3A"/>
                    </a:solidFill>
                  </a:tcPr>
                </a:tc>
                <a:tc>
                  <a:txBody>
                    <a:bodyPr wrap="square"/>
                    <a:lstStyle/>
                    <a:p>
                      <a:r>
                        <a:rPr sz="1300" b="1">
                          <a:solidFill>
                            <a:srgbClr val="FFFFFF"/>
                          </a:solidFill>
                          <a:latin typeface="Times New Roman"/>
                        </a:rPr>
                        <a:t>Test case</a:t>
                      </a:r>
                    </a:p>
                  </a:txBody>
                  <a:tcPr marL="54864" marR="54864" marT="36576" marB="36576">
                    <a:solidFill>
                      <a:srgbClr val="3F6B3A"/>
                    </a:solidFill>
                  </a:tcPr>
                </a:tc>
                <a:tc>
                  <a:txBody>
                    <a:bodyPr wrap="square"/>
                    <a:lstStyle/>
                    <a:p>
                      <a:r>
                        <a:rPr sz="1300" b="1">
                          <a:solidFill>
                            <a:srgbClr val="FFFFFF"/>
                          </a:solidFill>
                          <a:latin typeface="Times New Roman"/>
                        </a:rPr>
                        <a:t>Expected result</a:t>
                      </a:r>
                    </a:p>
                  </a:txBody>
                  <a:tcPr marL="54864" marR="54864" marT="36576" marB="36576">
                    <a:solidFill>
                      <a:srgbClr val="3F6B3A"/>
                    </a:solidFill>
                  </a:tcPr>
                </a:tc>
                <a:tc>
                  <a:txBody>
                    <a:bodyPr wrap="square"/>
                    <a:lstStyle/>
                    <a:p>
                      <a:r>
                        <a:rPr sz="1300" b="1">
                          <a:solidFill>
                            <a:srgbClr val="FFFFFF"/>
                          </a:solidFill>
                          <a:latin typeface="Times New Roman"/>
                        </a:rPr>
                        <a:t>Status</a:t>
                      </a:r>
                    </a:p>
                  </a:txBody>
                  <a:tcPr marL="54864" marR="54864" marT="36576" marB="36576">
                    <a:solidFill>
                      <a:srgbClr val="3F6B3A"/>
                    </a:solidFill>
                  </a:tcPr>
                </a:tc>
                <a:tc>
                  <a:txBody>
                    <a:bodyPr wrap="square"/>
                    <a:lstStyle/>
                    <a:p>
                      <a:r>
                        <a:rPr sz="1300" b="1">
                          <a:solidFill>
                            <a:srgbClr val="FFFFFF"/>
                          </a:solidFill>
                          <a:latin typeface="Times New Roman"/>
                        </a:rPr>
                        <a:t>Work Done</a:t>
                      </a:r>
                    </a:p>
                  </a:txBody>
                  <a:tcPr marL="54864" marR="54864" marT="36576" marB="36576">
                    <a:solidFill>
                      <a:srgbClr val="3F6B3A"/>
                    </a:solidFill>
                  </a:tcPr>
                </a:tc>
              </a:tr>
              <a:tr h="1051560">
                <a:tc>
                  <a:txBody>
                    <a:bodyPr wrap="square"/>
                    <a:lstStyle/>
                    <a:p>
                      <a:r>
                        <a:rPr sz="1200" b="0">
                          <a:solidFill>
                            <a:srgbClr val="222222"/>
                          </a:solidFill>
                          <a:latin typeface="Times New Roman"/>
                        </a:rPr>
                        <a:t>1.</a:t>
                      </a:r>
                    </a:p>
                  </a:txBody>
                  <a:tcPr marL="54864" marR="54864" marT="36576" marB="36576">
                    <a:solidFill>
                      <a:srgbClr val="FFFFFF"/>
                    </a:solidFill>
                  </a:tcPr>
                </a:tc>
                <a:tc>
                  <a:txBody>
                    <a:bodyPr wrap="square"/>
                    <a:lstStyle/>
                    <a:p>
                      <a:r>
                        <a:rPr sz="1200" b="0">
                          <a:solidFill>
                            <a:srgbClr val="222222"/>
                          </a:solidFill>
                          <a:latin typeface="Times New Roman"/>
                        </a:rPr>
                        <a:t>All models on all fields</a:t>
                      </a:r>
                    </a:p>
                  </a:txBody>
                  <a:tcPr marL="54864" marR="54864" marT="36576" marB="36576">
                    <a:solidFill>
                      <a:srgbClr val="FFFFFF"/>
                    </a:solidFill>
                  </a:tcPr>
                </a:tc>
                <a:tc>
                  <a:txBody>
                    <a:bodyPr wrap="square"/>
                    <a:lstStyle/>
                    <a:p>
                      <a:r>
                        <a:rPr sz="1200" b="0">
                          <a:solidFill>
                            <a:srgbClr val="222222"/>
                          </a:solidFill>
                          <a:latin typeface="Times New Roman"/>
                        </a:rPr>
                        <a:t>Run crop, irrigation, disease and advisory for every field</a:t>
                      </a:r>
                    </a:p>
                  </a:txBody>
                  <a:tcPr marL="54864" marR="54864" marT="36576" marB="36576">
                    <a:solidFill>
                      <a:srgbClr val="FFFFFF"/>
                    </a:solidFill>
                  </a:tcPr>
                </a:tc>
                <a:tc>
                  <a:txBody>
                    <a:bodyPr wrap="square"/>
                    <a:lstStyle/>
                    <a:p>
                      <a:r>
                        <a:rPr sz="1200" b="0">
                          <a:solidFill>
                            <a:srgbClr val="222222"/>
                          </a:solidFill>
                          <a:latin typeface="Times New Roman"/>
                        </a:rPr>
                        <a:t>16 model calls, all HTTP 200</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16/16 returned HTTP 200</a:t>
                      </a:r>
                    </a:p>
                  </a:txBody>
                  <a:tcPr marL="54864" marR="54864" marT="36576" marB="36576">
                    <a:solidFill>
                      <a:srgbClr val="FFFFFF"/>
                    </a:solidFill>
                  </a:tcPr>
                </a:tc>
              </a:tr>
              <a:tr h="1051560">
                <a:tc>
                  <a:txBody>
                    <a:bodyPr wrap="square"/>
                    <a:lstStyle/>
                    <a:p>
                      <a:r>
                        <a:rPr sz="1200" b="0">
                          <a:solidFill>
                            <a:srgbClr val="222222"/>
                          </a:solidFill>
                          <a:latin typeface="Times New Roman"/>
                        </a:rPr>
                        <a:t>2.</a:t>
                      </a:r>
                    </a:p>
                  </a:txBody>
                  <a:tcPr marL="54864" marR="54864" marT="36576" marB="36576">
                    <a:solidFill>
                      <a:srgbClr val="E7EFE2"/>
                    </a:solidFill>
                  </a:tcPr>
                </a:tc>
                <a:tc>
                  <a:txBody>
                    <a:bodyPr wrap="square"/>
                    <a:lstStyle/>
                    <a:p>
                      <a:r>
                        <a:rPr sz="1200" b="0">
                          <a:solidFill>
                            <a:srgbClr val="222222"/>
                          </a:solidFill>
                          <a:latin typeface="Times New Roman"/>
                        </a:rPr>
                        <a:t>CNN honesty check</a:t>
                      </a:r>
                    </a:p>
                  </a:txBody>
                  <a:tcPr marL="54864" marR="54864" marT="36576" marB="36576">
                    <a:solidFill>
                      <a:srgbClr val="E7EFE2"/>
                    </a:solidFill>
                  </a:tcPr>
                </a:tc>
                <a:tc>
                  <a:txBody>
                    <a:bodyPr wrap="square"/>
                    <a:lstStyle/>
                    <a:p>
                      <a:r>
                        <a:rPr sz="1200" b="0">
                          <a:solidFill>
                            <a:srgbClr val="222222"/>
                          </a:solidFill>
                          <a:latin typeface="Times New Roman"/>
                        </a:rPr>
                        <a:t>Upload a photo that is not a leaf (a farmer portrait)</a:t>
                      </a:r>
                    </a:p>
                  </a:txBody>
                  <a:tcPr marL="54864" marR="54864" marT="36576" marB="36576">
                    <a:solidFill>
                      <a:srgbClr val="E7EFE2"/>
                    </a:solidFill>
                  </a:tcPr>
                </a:tc>
                <a:tc>
                  <a:txBody>
                    <a:bodyPr wrap="square"/>
                    <a:lstStyle/>
                    <a:p>
                      <a:r>
                        <a:rPr sz="1200" b="0">
                          <a:solidFill>
                            <a:srgbClr val="222222"/>
                          </a:solidFill>
                          <a:latin typeface="Times New Roman"/>
                        </a:rPr>
                        <a:t>The answer comes with a clearly lower confidence than a real leaf (below 0.9), so the low confidence can be flagged</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confidence 0.52 (real leaves score 0.99+), guess 'Strawberry: Leaf scorch'</a:t>
                      </a:r>
                    </a:p>
                  </a:txBody>
                  <a:tcPr marL="54864" marR="54864" marT="36576" marB="36576">
                    <a:solidFill>
                      <a:srgbClr val="E7EFE2"/>
                    </a:solidFill>
                  </a:tcPr>
                </a:tc>
              </a:tr>
              <a:tr h="1051560">
                <a:tc>
                  <a:txBody>
                    <a:bodyPr wrap="square"/>
                    <a:lstStyle/>
                    <a:p>
                      <a:r>
                        <a:rPr sz="1200" b="0">
                          <a:solidFill>
                            <a:srgbClr val="222222"/>
                          </a:solidFill>
                          <a:latin typeface="Times New Roman"/>
                        </a:rPr>
                        <a:t>3.</a:t>
                      </a:r>
                    </a:p>
                  </a:txBody>
                  <a:tcPr marL="54864" marR="54864" marT="36576" marB="36576">
                    <a:solidFill>
                      <a:srgbClr val="FFFFFF"/>
                    </a:solidFill>
                  </a:tcPr>
                </a:tc>
                <a:tc>
                  <a:txBody>
                    <a:bodyPr wrap="square"/>
                    <a:lstStyle/>
                    <a:p>
                      <a:r>
                        <a:rPr sz="1200" b="0">
                          <a:solidFill>
                            <a:srgbClr val="222222"/>
                          </a:solidFill>
                          <a:latin typeface="Times New Roman"/>
                        </a:rPr>
                        <a:t>Repeatability</a:t>
                      </a:r>
                    </a:p>
                  </a:txBody>
                  <a:tcPr marL="54864" marR="54864" marT="36576" marB="36576">
                    <a:solidFill>
                      <a:srgbClr val="FFFFFF"/>
                    </a:solidFill>
                  </a:tcPr>
                </a:tc>
                <a:tc>
                  <a:txBody>
                    <a:bodyPr wrap="square"/>
                    <a:lstStyle/>
                    <a:p>
                      <a:r>
                        <a:rPr sz="1200" b="0">
                          <a:solidFill>
                            <a:srgbClr val="222222"/>
                          </a:solidFill>
                          <a:latin typeface="Times New Roman"/>
                        </a:rPr>
                        <a:t>Ask for the same crop recommendation and irrigation depth twice</a:t>
                      </a:r>
                    </a:p>
                  </a:txBody>
                  <a:tcPr marL="54864" marR="54864" marT="36576" marB="36576">
                    <a:solidFill>
                      <a:srgbClr val="FFFFFF"/>
                    </a:solidFill>
                  </a:tcPr>
                </a:tc>
                <a:tc>
                  <a:txBody>
                    <a:bodyPr wrap="square"/>
                    <a:lstStyle/>
                    <a:p>
                      <a:r>
                        <a:rPr sz="1200" b="0">
                          <a:solidFill>
                            <a:srgbClr val="222222"/>
                          </a:solidFill>
                          <a:latin typeface="Times New Roman"/>
                        </a:rPr>
                        <a:t>Identical answers both times (the models are deterministic for the same data)</a:t>
                      </a:r>
                    </a:p>
                  </a:txBody>
                  <a:tcPr marL="54864" marR="54864" marT="36576" marB="36576">
                    <a:solidFill>
                      <a:srgbClr val="FFFFFF"/>
                    </a:solidFill>
                  </a:tcPr>
                </a:tc>
                <a:tc>
                  <a:txBody>
                    <a:bodyPr wrap="square"/>
                    <a:lstStyle/>
                    <a:p>
                      <a:r>
                        <a:rPr sz="1200" b="1">
                          <a:solidFill>
                            <a:srgbClr val="222222"/>
                          </a:solidFill>
                          <a:latin typeface="Times New Roman"/>
                        </a:rPr>
                        <a:t>Completed</a:t>
                      </a:r>
                    </a:p>
                  </a:txBody>
                  <a:tcPr marL="54864" marR="54864" marT="36576" marB="36576">
                    <a:solidFill>
                      <a:srgbClr val="FFFFFF"/>
                    </a:solidFill>
                  </a:tcPr>
                </a:tc>
                <a:tc>
                  <a:txBody>
                    <a:bodyPr wrap="square"/>
                    <a:lstStyle/>
                    <a:p>
                      <a:r>
                        <a:rPr sz="1200" b="0">
                          <a:solidFill>
                            <a:srgbClr val="222222"/>
                          </a:solidFill>
                          <a:latin typeface="Times New Roman"/>
                        </a:rPr>
                        <a:t>Tested live: first ('muskmelon', 19.7), second ('muskmelon', 19.7)</a:t>
                      </a:r>
                    </a:p>
                  </a:txBody>
                  <a:tcPr marL="54864" marR="54864" marT="36576" marB="36576">
                    <a:solidFill>
                      <a:srgbClr val="FFFFFF"/>
                    </a:solidFill>
                  </a:tcPr>
                </a:tc>
              </a:tr>
              <a:tr h="1051560">
                <a:tc>
                  <a:txBody>
                    <a:bodyPr wrap="square"/>
                    <a:lstStyle/>
                    <a:p>
                      <a:r>
                        <a:rPr sz="1200" b="0">
                          <a:solidFill>
                            <a:srgbClr val="222222"/>
                          </a:solidFill>
                          <a:latin typeface="Times New Roman"/>
                        </a:rPr>
                        <a:t>4.</a:t>
                      </a:r>
                    </a:p>
                  </a:txBody>
                  <a:tcPr marL="54864" marR="54864" marT="36576" marB="36576">
                    <a:solidFill>
                      <a:srgbClr val="E7EFE2"/>
                    </a:solidFill>
                  </a:tcPr>
                </a:tc>
                <a:tc>
                  <a:txBody>
                    <a:bodyPr wrap="square"/>
                    <a:lstStyle/>
                    <a:p>
                      <a:r>
                        <a:rPr sz="1200" b="0">
                          <a:solidFill>
                            <a:srgbClr val="222222"/>
                          </a:solidFill>
                          <a:latin typeface="Times New Roman"/>
                        </a:rPr>
                        <a:t>Image model accuracy on the demo set</a:t>
                      </a:r>
                    </a:p>
                  </a:txBody>
                  <a:tcPr marL="54864" marR="54864" marT="36576" marB="36576">
                    <a:solidFill>
                      <a:srgbClr val="E7EFE2"/>
                    </a:solidFill>
                  </a:tcPr>
                </a:tc>
                <a:tc>
                  <a:txBody>
                    <a:bodyPr wrap="square"/>
                    <a:lstStyle/>
                    <a:p>
                      <a:r>
                        <a:rPr sz="1200" b="0">
                          <a:solidFill>
                            <a:srgbClr val="222222"/>
                          </a:solidFill>
                          <a:latin typeface="Times New Roman"/>
                        </a:rPr>
                        <a:t>Send all 6 leaf photos through the live API</a:t>
                      </a:r>
                    </a:p>
                  </a:txBody>
                  <a:tcPr marL="54864" marR="54864" marT="36576" marB="36576">
                    <a:solidFill>
                      <a:srgbClr val="E7EFE2"/>
                    </a:solidFill>
                  </a:tcPr>
                </a:tc>
                <a:tc>
                  <a:txBody>
                    <a:bodyPr wrap="square"/>
                    <a:lstStyle/>
                    <a:p>
                      <a:r>
                        <a:rPr sz="1200" b="0">
                          <a:solidFill>
                            <a:srgbClr val="222222"/>
                          </a:solidFill>
                          <a:latin typeface="Times New Roman"/>
                        </a:rPr>
                        <a:t>All 6 correct through the full backend, each marked source cnn</a:t>
                      </a:r>
                    </a:p>
                  </a:txBody>
                  <a:tcPr marL="54864" marR="54864" marT="36576" marB="36576">
                    <a:solidFill>
                      <a:srgbClr val="E7EFE2"/>
                    </a:solidFill>
                  </a:tcPr>
                </a:tc>
                <a:tc>
                  <a:txBody>
                    <a:bodyPr wrap="square"/>
                    <a:lstStyle/>
                    <a:p>
                      <a:r>
                        <a:rPr sz="1200" b="1">
                          <a:solidFill>
                            <a:srgbClr val="222222"/>
                          </a:solidFill>
                          <a:latin typeface="Times New Roman"/>
                        </a:rPr>
                        <a:t>Completed</a:t>
                      </a:r>
                    </a:p>
                  </a:txBody>
                  <a:tcPr marL="54864" marR="54864" marT="36576" marB="36576">
                    <a:solidFill>
                      <a:srgbClr val="E7EFE2"/>
                    </a:solidFill>
                  </a:tcPr>
                </a:tc>
                <a:tc>
                  <a:txBody>
                    <a:bodyPr wrap="square"/>
                    <a:lstStyle/>
                    <a:p>
                      <a:r>
                        <a:rPr sz="1200" b="0">
                          <a:solidFill>
                            <a:srgbClr val="222222"/>
                          </a:solidFill>
                          <a:latin typeface="Times New Roman"/>
                        </a:rPr>
                        <a:t>Tested live: 6/6 correct; tomato_late_blight: Tomato: Late blight (1.00); maize_common_rust: Corn (maize): Common rust (1.00); grape_black_rot: Grape: Black...</a:t>
                      </a:r>
                    </a:p>
                  </a:txBody>
                  <a:tcPr marL="54864" marR="54864" marT="36576" marB="36576">
                    <a:solidFill>
                      <a:srgbClr val="E7EFE2"/>
                    </a:solidFill>
                  </a:tcPr>
                </a:tc>
              </a:tr>
            </a:tbl>
          </a:graphicData>
        </a:graphic>
      </p:graphicFrame>
      <p:sp>
        <p:nvSpPr>
          <p:cNvPr id="4" name="TextBox 3"/>
          <p:cNvSpPr txBox="1"/>
          <p:nvPr/>
        </p:nvSpPr>
        <p:spPr>
          <a:xfrm>
            <a:off x="365760" y="6446520"/>
            <a:ext cx="5486400" cy="320040"/>
          </a:xfrm>
          <a:prstGeom prst="rect">
            <a:avLst/>
          </a:prstGeom>
          <a:noFill/>
        </p:spPr>
        <p:txBody>
          <a:bodyPr wrap="square">
            <a:spAutoFit/>
          </a:bodyPr>
          <a:lstStyle/>
          <a:p>
            <a:r>
              <a:rPr sz="1100" b="0">
                <a:solidFill>
                  <a:srgbClr val="666666"/>
                </a:solidFill>
                <a:latin typeface="Times New Roman"/>
              </a:rPr>
              <a:t>AGRO MIRAI, Dept of AIML</a:t>
            </a:r>
          </a:p>
        </p:txBody>
      </p:sp>
      <p:sp>
        <p:nvSpPr>
          <p:cNvPr id="5" name="TextBox 4"/>
          <p:cNvSpPr txBox="1"/>
          <p:nvPr/>
        </p:nvSpPr>
        <p:spPr>
          <a:xfrm>
            <a:off x="11155680" y="6446520"/>
            <a:ext cx="731520" cy="320040"/>
          </a:xfrm>
          <a:prstGeom prst="rect">
            <a:avLst/>
          </a:prstGeom>
          <a:noFill/>
        </p:spPr>
        <p:txBody>
          <a:bodyPr wrap="square">
            <a:spAutoFit/>
          </a:bodyPr>
          <a:lstStyle/>
          <a:p>
            <a:pPr algn="r"/>
            <a:r>
              <a:rPr sz="1100" b="0">
                <a:solidFill>
                  <a:srgbClr val="666666"/>
                </a:solidFill>
                <a:latin typeface="Times New Roman"/>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